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10" r:id="rId2"/>
  </p:sldMasterIdLst>
  <p:notesMasterIdLst>
    <p:notesMasterId r:id="rId12"/>
  </p:notesMasterIdLst>
  <p:handoutMasterIdLst>
    <p:handoutMasterId r:id="rId13"/>
  </p:handoutMasterIdLst>
  <p:sldIdLst>
    <p:sldId id="1720" r:id="rId3"/>
    <p:sldId id="2076137992" r:id="rId4"/>
    <p:sldId id="2076137993" r:id="rId5"/>
    <p:sldId id="2076137995" r:id="rId6"/>
    <p:sldId id="2076137996" r:id="rId7"/>
    <p:sldId id="2076137998" r:id="rId8"/>
    <p:sldId id="2076138000" r:id="rId9"/>
    <p:sldId id="2076137999" r:id="rId10"/>
    <p:sldId id="207613800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641B58-A7C8-47A5-9405-0D727AC14689}">
          <p14:sldIdLst>
            <p14:sldId id="1720"/>
            <p14:sldId id="2076137992"/>
            <p14:sldId id="2076137993"/>
            <p14:sldId id="2076137995"/>
            <p14:sldId id="2076137996"/>
            <p14:sldId id="2076137998"/>
            <p14:sldId id="2076138000"/>
            <p14:sldId id="2076137999"/>
            <p14:sldId id="2076138001"/>
          </p14:sldIdLst>
        </p14:section>
        <p14:section name="References" id="{5FE6911E-C2DB-42BE-9265-CDEBC5AB8D2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8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C7B25-7802-4C45-AA93-D64A37388DA6}" type="doc">
      <dgm:prSet loTypeId="urn:microsoft.com/office/officeart/2016/7/layout/BasicLinearProcessNumbered" loCatId="process" qsTypeId="urn:microsoft.com/office/officeart/2005/8/quickstyle/simple1" qsCatId="simple" csTypeId="urn:microsoft.com/office/officeart/2005/8/colors/accent1_2" csCatId="accent1" phldr="1"/>
      <dgm:spPr/>
      <dgm:t>
        <a:bodyPr/>
        <a:lstStyle/>
        <a:p>
          <a:endParaRPr lang="en-US"/>
        </a:p>
      </dgm:t>
    </dgm:pt>
    <dgm:pt modelId="{F7B490F5-C95E-4239-9920-8FBFEE51DA77}">
      <dgm:prSet custT="1"/>
      <dgm:spPr/>
      <dgm:t>
        <a:bodyPr/>
        <a:lstStyle/>
        <a:p>
          <a:r>
            <a:rPr lang="en-US" sz="1600"/>
            <a:t>Create Fabric </a:t>
          </a:r>
          <a:r>
            <a:rPr lang="en-US" sz="1600" err="1"/>
            <a:t>OneLake</a:t>
          </a:r>
          <a:r>
            <a:rPr lang="en-US" sz="1600"/>
            <a:t> Shortcut to S3-compatible endpoint</a:t>
          </a:r>
        </a:p>
      </dgm:t>
    </dgm:pt>
    <dgm:pt modelId="{9AC1AEF2-8FC0-4742-8977-4D84615C2A40}" type="parTrans" cxnId="{589AE15C-2580-4505-916A-3CB9DBD844B0}">
      <dgm:prSet/>
      <dgm:spPr/>
      <dgm:t>
        <a:bodyPr/>
        <a:lstStyle/>
        <a:p>
          <a:endParaRPr lang="en-US"/>
        </a:p>
      </dgm:t>
    </dgm:pt>
    <dgm:pt modelId="{DFAED633-85EC-4FAA-9F6F-075DD6CA1FFC}" type="sibTrans" cxnId="{589AE15C-2580-4505-916A-3CB9DBD844B0}">
      <dgm:prSet phldrT="1" phldr="0"/>
      <dgm:spPr/>
      <dgm:t>
        <a:bodyPr/>
        <a:lstStyle/>
        <a:p>
          <a:r>
            <a:rPr lang="en-US"/>
            <a:t>1</a:t>
          </a:r>
        </a:p>
      </dgm:t>
    </dgm:pt>
    <dgm:pt modelId="{E71B563E-6AD5-4A10-B6C8-D91989D6ADF1}">
      <dgm:prSet custT="1"/>
      <dgm:spPr/>
      <dgm:t>
        <a:bodyPr/>
        <a:lstStyle/>
        <a:p>
          <a:r>
            <a:rPr lang="en-US" sz="1600"/>
            <a:t>Sync on-prem AD users to Microsoft Entra Id on Azure</a:t>
          </a:r>
        </a:p>
      </dgm:t>
    </dgm:pt>
    <dgm:pt modelId="{1A94FE72-D177-4385-8A6D-4EFF7B368082}" type="parTrans" cxnId="{F7E6BB73-9C15-447D-B71E-D0CC5344E454}">
      <dgm:prSet/>
      <dgm:spPr/>
      <dgm:t>
        <a:bodyPr/>
        <a:lstStyle/>
        <a:p>
          <a:endParaRPr lang="en-US"/>
        </a:p>
      </dgm:t>
    </dgm:pt>
    <dgm:pt modelId="{AF454653-4147-487D-9809-E620C03F5F01}" type="sibTrans" cxnId="{F7E6BB73-9C15-447D-B71E-D0CC5344E454}">
      <dgm:prSet phldrT="2" phldr="0"/>
      <dgm:spPr/>
      <dgm:t>
        <a:bodyPr/>
        <a:lstStyle/>
        <a:p>
          <a:r>
            <a:rPr lang="en-US"/>
            <a:t>2</a:t>
          </a:r>
        </a:p>
      </dgm:t>
    </dgm:pt>
    <dgm:pt modelId="{8E2E21F7-388F-410F-AC50-DA8BEA3B0CB9}">
      <dgm:prSet custT="1"/>
      <dgm:spPr/>
      <dgm:t>
        <a:bodyPr/>
        <a:lstStyle/>
        <a:p>
          <a:r>
            <a:rPr lang="en-US" sz="1600"/>
            <a:t>Apply &amp; preserve ACL permission model for SMB files ingested in </a:t>
          </a:r>
          <a:r>
            <a:rPr lang="en-US" sz="1600" err="1"/>
            <a:t>OneLake</a:t>
          </a:r>
          <a:endParaRPr lang="en-US" sz="1600"/>
        </a:p>
      </dgm:t>
    </dgm:pt>
    <dgm:pt modelId="{0C1AFCD7-0AB5-4418-8569-AF1409A58F67}" type="parTrans" cxnId="{637740E0-6745-4251-931C-49CF001D5F26}">
      <dgm:prSet/>
      <dgm:spPr/>
      <dgm:t>
        <a:bodyPr/>
        <a:lstStyle/>
        <a:p>
          <a:endParaRPr lang="en-US"/>
        </a:p>
      </dgm:t>
    </dgm:pt>
    <dgm:pt modelId="{FD2200E8-50DE-4E8C-A834-98F028776EC4}" type="sibTrans" cxnId="{637740E0-6745-4251-931C-49CF001D5F26}">
      <dgm:prSet phldrT="3" phldr="0"/>
      <dgm:spPr/>
      <dgm:t>
        <a:bodyPr/>
        <a:lstStyle/>
        <a:p>
          <a:r>
            <a:rPr lang="en-US"/>
            <a:t>3</a:t>
          </a:r>
        </a:p>
      </dgm:t>
    </dgm:pt>
    <dgm:pt modelId="{A4CD88C3-1C14-4C24-97EA-3F30512D4A74}" type="pres">
      <dgm:prSet presAssocID="{D0FC7B25-7802-4C45-AA93-D64A37388DA6}" presName="Name0" presStyleCnt="0">
        <dgm:presLayoutVars>
          <dgm:animLvl val="lvl"/>
          <dgm:resizeHandles val="exact"/>
        </dgm:presLayoutVars>
      </dgm:prSet>
      <dgm:spPr/>
    </dgm:pt>
    <dgm:pt modelId="{F85C7FAB-13E2-45DC-9043-B7FEC29A841D}" type="pres">
      <dgm:prSet presAssocID="{F7B490F5-C95E-4239-9920-8FBFEE51DA77}" presName="compositeNode" presStyleCnt="0">
        <dgm:presLayoutVars>
          <dgm:bulletEnabled val="1"/>
        </dgm:presLayoutVars>
      </dgm:prSet>
      <dgm:spPr/>
    </dgm:pt>
    <dgm:pt modelId="{FE7AFEC6-182E-4D48-B05C-7A201EEB442B}" type="pres">
      <dgm:prSet presAssocID="{F7B490F5-C95E-4239-9920-8FBFEE51DA77}" presName="bgRect" presStyleLbl="bgAccFollowNode1" presStyleIdx="0" presStyleCnt="3" custScaleY="152297"/>
      <dgm:spPr/>
    </dgm:pt>
    <dgm:pt modelId="{B4C4A99E-A15B-4567-858D-06A810375E26}" type="pres">
      <dgm:prSet presAssocID="{DFAED633-85EC-4FAA-9F6F-075DD6CA1FFC}" presName="sibTransNodeCircle" presStyleLbl="alignNode1" presStyleIdx="0" presStyleCnt="6">
        <dgm:presLayoutVars>
          <dgm:chMax val="0"/>
          <dgm:bulletEnabled/>
        </dgm:presLayoutVars>
      </dgm:prSet>
      <dgm:spPr/>
    </dgm:pt>
    <dgm:pt modelId="{8582D55E-5D09-45CC-9219-951A517F4C7F}" type="pres">
      <dgm:prSet presAssocID="{F7B490F5-C95E-4239-9920-8FBFEE51DA77}" presName="bottomLine" presStyleLbl="alignNode1" presStyleIdx="1" presStyleCnt="6" custLinFactY="402133333" custLinFactNeighborX="584" custLinFactNeighborY="402200000">
        <dgm:presLayoutVars/>
      </dgm:prSet>
      <dgm:spPr/>
    </dgm:pt>
    <dgm:pt modelId="{F2B4667A-0E78-4867-9B69-F3A49837119F}" type="pres">
      <dgm:prSet presAssocID="{F7B490F5-C95E-4239-9920-8FBFEE51DA77}" presName="nodeText" presStyleLbl="bgAccFollowNode1" presStyleIdx="0" presStyleCnt="3">
        <dgm:presLayoutVars>
          <dgm:bulletEnabled val="1"/>
        </dgm:presLayoutVars>
      </dgm:prSet>
      <dgm:spPr/>
    </dgm:pt>
    <dgm:pt modelId="{A5E2D328-1D50-4B90-A2DF-6A3A8A6B8DB5}" type="pres">
      <dgm:prSet presAssocID="{DFAED633-85EC-4FAA-9F6F-075DD6CA1FFC}" presName="sibTrans" presStyleCnt="0"/>
      <dgm:spPr/>
    </dgm:pt>
    <dgm:pt modelId="{11957A98-3C3F-4E39-8914-EB12EB218248}" type="pres">
      <dgm:prSet presAssocID="{E71B563E-6AD5-4A10-B6C8-D91989D6ADF1}" presName="compositeNode" presStyleCnt="0">
        <dgm:presLayoutVars>
          <dgm:bulletEnabled val="1"/>
        </dgm:presLayoutVars>
      </dgm:prSet>
      <dgm:spPr/>
    </dgm:pt>
    <dgm:pt modelId="{C8B61757-22E9-44C5-8176-D9BB8CD8500D}" type="pres">
      <dgm:prSet presAssocID="{E71B563E-6AD5-4A10-B6C8-D91989D6ADF1}" presName="bgRect" presStyleLbl="bgAccFollowNode1" presStyleIdx="1" presStyleCnt="3" custScaleY="152297"/>
      <dgm:spPr/>
    </dgm:pt>
    <dgm:pt modelId="{7165E8EE-1A1B-4B72-84B5-F11A7ACF439A}" type="pres">
      <dgm:prSet presAssocID="{AF454653-4147-487D-9809-E620C03F5F01}" presName="sibTransNodeCircle" presStyleLbl="alignNode1" presStyleIdx="2" presStyleCnt="6">
        <dgm:presLayoutVars>
          <dgm:chMax val="0"/>
          <dgm:bulletEnabled/>
        </dgm:presLayoutVars>
      </dgm:prSet>
      <dgm:spPr/>
    </dgm:pt>
    <dgm:pt modelId="{6AF476B7-11EE-4E9F-86C8-8A96E1A31A88}" type="pres">
      <dgm:prSet presAssocID="{E71B563E-6AD5-4A10-B6C8-D91989D6ADF1}" presName="bottomLine" presStyleLbl="alignNode1" presStyleIdx="3" presStyleCnt="6" custLinFactY="402133333" custLinFactNeighborX="731" custLinFactNeighborY="402200000">
        <dgm:presLayoutVars/>
      </dgm:prSet>
      <dgm:spPr/>
    </dgm:pt>
    <dgm:pt modelId="{4AE930FA-FC71-48D9-8F22-01A61703DF41}" type="pres">
      <dgm:prSet presAssocID="{E71B563E-6AD5-4A10-B6C8-D91989D6ADF1}" presName="nodeText" presStyleLbl="bgAccFollowNode1" presStyleIdx="1" presStyleCnt="3">
        <dgm:presLayoutVars>
          <dgm:bulletEnabled val="1"/>
        </dgm:presLayoutVars>
      </dgm:prSet>
      <dgm:spPr/>
    </dgm:pt>
    <dgm:pt modelId="{E3CDBAE5-3FF3-45A2-B8C3-1F08F173D680}" type="pres">
      <dgm:prSet presAssocID="{AF454653-4147-487D-9809-E620C03F5F01}" presName="sibTrans" presStyleCnt="0"/>
      <dgm:spPr/>
    </dgm:pt>
    <dgm:pt modelId="{83522CB8-4C54-40EB-9FEF-D3FEA44E3E81}" type="pres">
      <dgm:prSet presAssocID="{8E2E21F7-388F-410F-AC50-DA8BEA3B0CB9}" presName="compositeNode" presStyleCnt="0">
        <dgm:presLayoutVars>
          <dgm:bulletEnabled val="1"/>
        </dgm:presLayoutVars>
      </dgm:prSet>
      <dgm:spPr/>
    </dgm:pt>
    <dgm:pt modelId="{8379EF5C-D956-4404-B38E-0EDC000E7366}" type="pres">
      <dgm:prSet presAssocID="{8E2E21F7-388F-410F-AC50-DA8BEA3B0CB9}" presName="bgRect" presStyleLbl="bgAccFollowNode1" presStyleIdx="2" presStyleCnt="3" custScaleY="152297"/>
      <dgm:spPr/>
    </dgm:pt>
    <dgm:pt modelId="{7E31FCF7-4447-4071-89D6-292FCBC4B729}" type="pres">
      <dgm:prSet presAssocID="{FD2200E8-50DE-4E8C-A834-98F028776EC4}" presName="sibTransNodeCircle" presStyleLbl="alignNode1" presStyleIdx="4" presStyleCnt="6">
        <dgm:presLayoutVars>
          <dgm:chMax val="0"/>
          <dgm:bulletEnabled/>
        </dgm:presLayoutVars>
      </dgm:prSet>
      <dgm:spPr/>
    </dgm:pt>
    <dgm:pt modelId="{675D3590-20B5-4DA0-8276-5A87E43C5C46}" type="pres">
      <dgm:prSet presAssocID="{8E2E21F7-388F-410F-AC50-DA8BEA3B0CB9}" presName="bottomLine" presStyleLbl="alignNode1" presStyleIdx="5" presStyleCnt="6" custLinFactY="402133333" custLinFactNeighborX="230" custLinFactNeighborY="402200000">
        <dgm:presLayoutVars/>
      </dgm:prSet>
      <dgm:spPr/>
    </dgm:pt>
    <dgm:pt modelId="{811A507C-D2D4-418A-A3E0-C3E50368D9E2}" type="pres">
      <dgm:prSet presAssocID="{8E2E21F7-388F-410F-AC50-DA8BEA3B0CB9}" presName="nodeText" presStyleLbl="bgAccFollowNode1" presStyleIdx="2" presStyleCnt="3">
        <dgm:presLayoutVars>
          <dgm:bulletEnabled val="1"/>
        </dgm:presLayoutVars>
      </dgm:prSet>
      <dgm:spPr/>
    </dgm:pt>
  </dgm:ptLst>
  <dgm:cxnLst>
    <dgm:cxn modelId="{8CA84637-F7EB-4C46-8925-21CBB3E39D49}" type="presOf" srcId="{E71B563E-6AD5-4A10-B6C8-D91989D6ADF1}" destId="{4AE930FA-FC71-48D9-8F22-01A61703DF41}" srcOrd="1" destOrd="0" presId="urn:microsoft.com/office/officeart/2016/7/layout/BasicLinearProcessNumbered"/>
    <dgm:cxn modelId="{589AE15C-2580-4505-916A-3CB9DBD844B0}" srcId="{D0FC7B25-7802-4C45-AA93-D64A37388DA6}" destId="{F7B490F5-C95E-4239-9920-8FBFEE51DA77}" srcOrd="0" destOrd="0" parTransId="{9AC1AEF2-8FC0-4742-8977-4D84615C2A40}" sibTransId="{DFAED633-85EC-4FAA-9F6F-075DD6CA1FFC}"/>
    <dgm:cxn modelId="{3160BE43-15BE-4537-9D06-EF7D5BAB4085}" type="presOf" srcId="{E71B563E-6AD5-4A10-B6C8-D91989D6ADF1}" destId="{C8B61757-22E9-44C5-8176-D9BB8CD8500D}" srcOrd="0" destOrd="0" presId="urn:microsoft.com/office/officeart/2016/7/layout/BasicLinearProcessNumbered"/>
    <dgm:cxn modelId="{5ECE2E4F-4A37-4E33-BE49-22F30CA4620D}" type="presOf" srcId="{8E2E21F7-388F-410F-AC50-DA8BEA3B0CB9}" destId="{811A507C-D2D4-418A-A3E0-C3E50368D9E2}" srcOrd="1" destOrd="0" presId="urn:microsoft.com/office/officeart/2016/7/layout/BasicLinearProcessNumbered"/>
    <dgm:cxn modelId="{C89FAC72-2C49-4E38-B07C-B5D7C5A605D2}" type="presOf" srcId="{D0FC7B25-7802-4C45-AA93-D64A37388DA6}" destId="{A4CD88C3-1C14-4C24-97EA-3F30512D4A74}" srcOrd="0" destOrd="0" presId="urn:microsoft.com/office/officeart/2016/7/layout/BasicLinearProcessNumbered"/>
    <dgm:cxn modelId="{F7E6BB73-9C15-447D-B71E-D0CC5344E454}" srcId="{D0FC7B25-7802-4C45-AA93-D64A37388DA6}" destId="{E71B563E-6AD5-4A10-B6C8-D91989D6ADF1}" srcOrd="1" destOrd="0" parTransId="{1A94FE72-D177-4385-8A6D-4EFF7B368082}" sibTransId="{AF454653-4147-487D-9809-E620C03F5F01}"/>
    <dgm:cxn modelId="{22BFDD55-84C1-46CA-969E-FF1996A5B1B5}" type="presOf" srcId="{AF454653-4147-487D-9809-E620C03F5F01}" destId="{7165E8EE-1A1B-4B72-84B5-F11A7ACF439A}" srcOrd="0" destOrd="0" presId="urn:microsoft.com/office/officeart/2016/7/layout/BasicLinearProcessNumbered"/>
    <dgm:cxn modelId="{8CF8AC87-ED10-46A4-9558-02BB9646CFEF}" type="presOf" srcId="{F7B490F5-C95E-4239-9920-8FBFEE51DA77}" destId="{FE7AFEC6-182E-4D48-B05C-7A201EEB442B}" srcOrd="0" destOrd="0" presId="urn:microsoft.com/office/officeart/2016/7/layout/BasicLinearProcessNumbered"/>
    <dgm:cxn modelId="{46870E89-B570-449D-8DC3-E2AE261F19C1}" type="presOf" srcId="{8E2E21F7-388F-410F-AC50-DA8BEA3B0CB9}" destId="{8379EF5C-D956-4404-B38E-0EDC000E7366}" srcOrd="0" destOrd="0" presId="urn:microsoft.com/office/officeart/2016/7/layout/BasicLinearProcessNumbered"/>
    <dgm:cxn modelId="{85BB74A0-E51D-4F65-AA45-4D7FAFB7F708}" type="presOf" srcId="{FD2200E8-50DE-4E8C-A834-98F028776EC4}" destId="{7E31FCF7-4447-4071-89D6-292FCBC4B729}" srcOrd="0" destOrd="0" presId="urn:microsoft.com/office/officeart/2016/7/layout/BasicLinearProcessNumbered"/>
    <dgm:cxn modelId="{001676A4-F7B1-4D99-B161-2D8E5753CDD6}" type="presOf" srcId="{F7B490F5-C95E-4239-9920-8FBFEE51DA77}" destId="{F2B4667A-0E78-4867-9B69-F3A49837119F}" srcOrd="1" destOrd="0" presId="urn:microsoft.com/office/officeart/2016/7/layout/BasicLinearProcessNumbered"/>
    <dgm:cxn modelId="{91C7BFC5-C5E2-4FFB-AC2F-E066CDA9D239}" type="presOf" srcId="{DFAED633-85EC-4FAA-9F6F-075DD6CA1FFC}" destId="{B4C4A99E-A15B-4567-858D-06A810375E26}" srcOrd="0" destOrd="0" presId="urn:microsoft.com/office/officeart/2016/7/layout/BasicLinearProcessNumbered"/>
    <dgm:cxn modelId="{637740E0-6745-4251-931C-49CF001D5F26}" srcId="{D0FC7B25-7802-4C45-AA93-D64A37388DA6}" destId="{8E2E21F7-388F-410F-AC50-DA8BEA3B0CB9}" srcOrd="2" destOrd="0" parTransId="{0C1AFCD7-0AB5-4418-8569-AF1409A58F67}" sibTransId="{FD2200E8-50DE-4E8C-A834-98F028776EC4}"/>
    <dgm:cxn modelId="{227776A4-875E-4114-9119-CCFC17BF92B5}" type="presParOf" srcId="{A4CD88C3-1C14-4C24-97EA-3F30512D4A74}" destId="{F85C7FAB-13E2-45DC-9043-B7FEC29A841D}" srcOrd="0" destOrd="0" presId="urn:microsoft.com/office/officeart/2016/7/layout/BasicLinearProcessNumbered"/>
    <dgm:cxn modelId="{D9CCE87A-7B07-4F65-9D0F-64EF2959CD4C}" type="presParOf" srcId="{F85C7FAB-13E2-45DC-9043-B7FEC29A841D}" destId="{FE7AFEC6-182E-4D48-B05C-7A201EEB442B}" srcOrd="0" destOrd="0" presId="urn:microsoft.com/office/officeart/2016/7/layout/BasicLinearProcessNumbered"/>
    <dgm:cxn modelId="{2D2FE662-D789-47B4-95FB-8D0C8CEC5D4B}" type="presParOf" srcId="{F85C7FAB-13E2-45DC-9043-B7FEC29A841D}" destId="{B4C4A99E-A15B-4567-858D-06A810375E26}" srcOrd="1" destOrd="0" presId="urn:microsoft.com/office/officeart/2016/7/layout/BasicLinearProcessNumbered"/>
    <dgm:cxn modelId="{5112A7B7-E484-4C60-8F84-6DDD39F60954}" type="presParOf" srcId="{F85C7FAB-13E2-45DC-9043-B7FEC29A841D}" destId="{8582D55E-5D09-45CC-9219-951A517F4C7F}" srcOrd="2" destOrd="0" presId="urn:microsoft.com/office/officeart/2016/7/layout/BasicLinearProcessNumbered"/>
    <dgm:cxn modelId="{B668AE64-D05C-4460-AE47-911D4904CF8A}" type="presParOf" srcId="{F85C7FAB-13E2-45DC-9043-B7FEC29A841D}" destId="{F2B4667A-0E78-4867-9B69-F3A49837119F}" srcOrd="3" destOrd="0" presId="urn:microsoft.com/office/officeart/2016/7/layout/BasicLinearProcessNumbered"/>
    <dgm:cxn modelId="{A79D1D74-8449-4652-BD26-CF656C4F972C}" type="presParOf" srcId="{A4CD88C3-1C14-4C24-97EA-3F30512D4A74}" destId="{A5E2D328-1D50-4B90-A2DF-6A3A8A6B8DB5}" srcOrd="1" destOrd="0" presId="urn:microsoft.com/office/officeart/2016/7/layout/BasicLinearProcessNumbered"/>
    <dgm:cxn modelId="{832CA7AB-B07F-42C6-8DF0-89381C244D0F}" type="presParOf" srcId="{A4CD88C3-1C14-4C24-97EA-3F30512D4A74}" destId="{11957A98-3C3F-4E39-8914-EB12EB218248}" srcOrd="2" destOrd="0" presId="urn:microsoft.com/office/officeart/2016/7/layout/BasicLinearProcessNumbered"/>
    <dgm:cxn modelId="{9BF1A87D-ECE5-444E-AC08-42B210922A99}" type="presParOf" srcId="{11957A98-3C3F-4E39-8914-EB12EB218248}" destId="{C8B61757-22E9-44C5-8176-D9BB8CD8500D}" srcOrd="0" destOrd="0" presId="urn:microsoft.com/office/officeart/2016/7/layout/BasicLinearProcessNumbered"/>
    <dgm:cxn modelId="{939EB7ED-5AE6-40CF-8295-9CB1136C8416}" type="presParOf" srcId="{11957A98-3C3F-4E39-8914-EB12EB218248}" destId="{7165E8EE-1A1B-4B72-84B5-F11A7ACF439A}" srcOrd="1" destOrd="0" presId="urn:microsoft.com/office/officeart/2016/7/layout/BasicLinearProcessNumbered"/>
    <dgm:cxn modelId="{8A27EE95-6873-4FDA-9AED-9797B6F66E5D}" type="presParOf" srcId="{11957A98-3C3F-4E39-8914-EB12EB218248}" destId="{6AF476B7-11EE-4E9F-86C8-8A96E1A31A88}" srcOrd="2" destOrd="0" presId="urn:microsoft.com/office/officeart/2016/7/layout/BasicLinearProcessNumbered"/>
    <dgm:cxn modelId="{1BF85AE2-9E00-4702-89A7-5644E833DA77}" type="presParOf" srcId="{11957A98-3C3F-4E39-8914-EB12EB218248}" destId="{4AE930FA-FC71-48D9-8F22-01A61703DF41}" srcOrd="3" destOrd="0" presId="urn:microsoft.com/office/officeart/2016/7/layout/BasicLinearProcessNumbered"/>
    <dgm:cxn modelId="{963CD385-A6F0-47AD-9843-F4E65A83B837}" type="presParOf" srcId="{A4CD88C3-1C14-4C24-97EA-3F30512D4A74}" destId="{E3CDBAE5-3FF3-45A2-B8C3-1F08F173D680}" srcOrd="3" destOrd="0" presId="urn:microsoft.com/office/officeart/2016/7/layout/BasicLinearProcessNumbered"/>
    <dgm:cxn modelId="{689758CA-3F1D-4E41-B4FB-3DCBC71CD2B1}" type="presParOf" srcId="{A4CD88C3-1C14-4C24-97EA-3F30512D4A74}" destId="{83522CB8-4C54-40EB-9FEF-D3FEA44E3E81}" srcOrd="4" destOrd="0" presId="urn:microsoft.com/office/officeart/2016/7/layout/BasicLinearProcessNumbered"/>
    <dgm:cxn modelId="{301A3A86-9E8B-4B62-A443-300D52862F4C}" type="presParOf" srcId="{83522CB8-4C54-40EB-9FEF-D3FEA44E3E81}" destId="{8379EF5C-D956-4404-B38E-0EDC000E7366}" srcOrd="0" destOrd="0" presId="urn:microsoft.com/office/officeart/2016/7/layout/BasicLinearProcessNumbered"/>
    <dgm:cxn modelId="{5F49A230-172F-47B7-95EF-DFA75037E833}" type="presParOf" srcId="{83522CB8-4C54-40EB-9FEF-D3FEA44E3E81}" destId="{7E31FCF7-4447-4071-89D6-292FCBC4B729}" srcOrd="1" destOrd="0" presId="urn:microsoft.com/office/officeart/2016/7/layout/BasicLinearProcessNumbered"/>
    <dgm:cxn modelId="{DD258A16-8F9D-48C4-97C1-B15D0B075698}" type="presParOf" srcId="{83522CB8-4C54-40EB-9FEF-D3FEA44E3E81}" destId="{675D3590-20B5-4DA0-8276-5A87E43C5C46}" srcOrd="2" destOrd="0" presId="urn:microsoft.com/office/officeart/2016/7/layout/BasicLinearProcessNumbered"/>
    <dgm:cxn modelId="{EA2DF184-15F8-4CD2-9315-964E416F99D6}" type="presParOf" srcId="{83522CB8-4C54-40EB-9FEF-D3FEA44E3E81}" destId="{811A507C-D2D4-418A-A3E0-C3E50368D9E2}"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AFEC6-182E-4D48-B05C-7A201EEB442B}">
      <dsp:nvSpPr>
        <dsp:cNvPr id="0" name=""/>
        <dsp:cNvSpPr/>
      </dsp:nvSpPr>
      <dsp:spPr>
        <a:xfrm>
          <a:off x="0" y="356557"/>
          <a:ext cx="1629667" cy="3474709"/>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55" tIns="330200" rIns="127055" bIns="330200" numCol="1" spcCol="1270" anchor="t" anchorCtr="0">
          <a:noAutofit/>
        </a:bodyPr>
        <a:lstStyle/>
        <a:p>
          <a:pPr marL="0" lvl="0" indent="0" algn="l" defTabSz="711200">
            <a:lnSpc>
              <a:spcPct val="90000"/>
            </a:lnSpc>
            <a:spcBef>
              <a:spcPct val="0"/>
            </a:spcBef>
            <a:spcAft>
              <a:spcPct val="35000"/>
            </a:spcAft>
            <a:buNone/>
          </a:pPr>
          <a:r>
            <a:rPr lang="en-US" sz="1600" kern="1200"/>
            <a:t>Create Fabric </a:t>
          </a:r>
          <a:r>
            <a:rPr lang="en-US" sz="1600" kern="1200" err="1"/>
            <a:t>OneLake</a:t>
          </a:r>
          <a:r>
            <a:rPr lang="en-US" sz="1600" kern="1200"/>
            <a:t> Shortcut to S3-compatible endpoint</a:t>
          </a:r>
        </a:p>
      </dsp:txBody>
      <dsp:txXfrm>
        <a:off x="0" y="1676947"/>
        <a:ext cx="1629667" cy="2084825"/>
      </dsp:txXfrm>
    </dsp:sp>
    <dsp:sp modelId="{B4C4A99E-A15B-4567-858D-06A810375E26}">
      <dsp:nvSpPr>
        <dsp:cNvPr id="0" name=""/>
        <dsp:cNvSpPr/>
      </dsp:nvSpPr>
      <dsp:spPr>
        <a:xfrm>
          <a:off x="472603" y="1181298"/>
          <a:ext cx="684460" cy="684460"/>
        </a:xfrm>
        <a:prstGeom prst="ellips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63" tIns="12700" rIns="53363" bIns="12700" numCol="1" spcCol="1270" anchor="ctr" anchorCtr="0">
          <a:noAutofit/>
        </a:bodyPr>
        <a:lstStyle/>
        <a:p>
          <a:pPr marL="0" lvl="0" indent="0" algn="ctr" defTabSz="1333500">
            <a:lnSpc>
              <a:spcPct val="90000"/>
            </a:lnSpc>
            <a:spcBef>
              <a:spcPct val="0"/>
            </a:spcBef>
            <a:spcAft>
              <a:spcPct val="35000"/>
            </a:spcAft>
            <a:buNone/>
          </a:pPr>
          <a:r>
            <a:rPr lang="en-US" sz="3000" kern="1200"/>
            <a:t>1</a:t>
          </a:r>
        </a:p>
      </dsp:txBody>
      <dsp:txXfrm>
        <a:off x="572840" y="1281535"/>
        <a:ext cx="483986" cy="483986"/>
      </dsp:txXfrm>
    </dsp:sp>
    <dsp:sp modelId="{8582D55E-5D09-45CC-9219-951A517F4C7F}">
      <dsp:nvSpPr>
        <dsp:cNvPr id="0" name=""/>
        <dsp:cNvSpPr/>
      </dsp:nvSpPr>
      <dsp:spPr>
        <a:xfrm>
          <a:off x="9517" y="3813727"/>
          <a:ext cx="1629667" cy="72"/>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B61757-22E9-44C5-8176-D9BB8CD8500D}">
      <dsp:nvSpPr>
        <dsp:cNvPr id="0" name=""/>
        <dsp:cNvSpPr/>
      </dsp:nvSpPr>
      <dsp:spPr>
        <a:xfrm>
          <a:off x="1792634" y="356557"/>
          <a:ext cx="1629667" cy="3474709"/>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55" tIns="330200" rIns="127055" bIns="330200" numCol="1" spcCol="1270" anchor="t" anchorCtr="0">
          <a:noAutofit/>
        </a:bodyPr>
        <a:lstStyle/>
        <a:p>
          <a:pPr marL="0" lvl="0" indent="0" algn="l" defTabSz="711200">
            <a:lnSpc>
              <a:spcPct val="90000"/>
            </a:lnSpc>
            <a:spcBef>
              <a:spcPct val="0"/>
            </a:spcBef>
            <a:spcAft>
              <a:spcPct val="35000"/>
            </a:spcAft>
            <a:buNone/>
          </a:pPr>
          <a:r>
            <a:rPr lang="en-US" sz="1600" kern="1200"/>
            <a:t>Sync on-prem AD users to Microsoft Entra Id on Azure</a:t>
          </a:r>
        </a:p>
      </dsp:txBody>
      <dsp:txXfrm>
        <a:off x="1792634" y="1676947"/>
        <a:ext cx="1629667" cy="2084825"/>
      </dsp:txXfrm>
    </dsp:sp>
    <dsp:sp modelId="{7165E8EE-1A1B-4B72-84B5-F11A7ACF439A}">
      <dsp:nvSpPr>
        <dsp:cNvPr id="0" name=""/>
        <dsp:cNvSpPr/>
      </dsp:nvSpPr>
      <dsp:spPr>
        <a:xfrm>
          <a:off x="2265238" y="1181298"/>
          <a:ext cx="684460" cy="684460"/>
        </a:xfrm>
        <a:prstGeom prst="ellips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63" tIns="12700" rIns="53363" bIns="12700" numCol="1" spcCol="1270" anchor="ctr" anchorCtr="0">
          <a:noAutofit/>
        </a:bodyPr>
        <a:lstStyle/>
        <a:p>
          <a:pPr marL="0" lvl="0" indent="0" algn="ctr" defTabSz="1333500">
            <a:lnSpc>
              <a:spcPct val="90000"/>
            </a:lnSpc>
            <a:spcBef>
              <a:spcPct val="0"/>
            </a:spcBef>
            <a:spcAft>
              <a:spcPct val="35000"/>
            </a:spcAft>
            <a:buNone/>
          </a:pPr>
          <a:r>
            <a:rPr lang="en-US" sz="3000" kern="1200"/>
            <a:t>2</a:t>
          </a:r>
        </a:p>
      </dsp:txBody>
      <dsp:txXfrm>
        <a:off x="2365475" y="1281535"/>
        <a:ext cx="483986" cy="483986"/>
      </dsp:txXfrm>
    </dsp:sp>
    <dsp:sp modelId="{6AF476B7-11EE-4E9F-86C8-8A96E1A31A88}">
      <dsp:nvSpPr>
        <dsp:cNvPr id="0" name=""/>
        <dsp:cNvSpPr/>
      </dsp:nvSpPr>
      <dsp:spPr>
        <a:xfrm>
          <a:off x="1804547" y="3813727"/>
          <a:ext cx="1629667" cy="72"/>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79EF5C-D956-4404-B38E-0EDC000E7366}">
      <dsp:nvSpPr>
        <dsp:cNvPr id="0" name=""/>
        <dsp:cNvSpPr/>
      </dsp:nvSpPr>
      <dsp:spPr>
        <a:xfrm>
          <a:off x="3585269" y="356557"/>
          <a:ext cx="1629667" cy="3474709"/>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55" tIns="330200" rIns="127055" bIns="330200" numCol="1" spcCol="1270" anchor="t" anchorCtr="0">
          <a:noAutofit/>
        </a:bodyPr>
        <a:lstStyle/>
        <a:p>
          <a:pPr marL="0" lvl="0" indent="0" algn="l" defTabSz="711200">
            <a:lnSpc>
              <a:spcPct val="90000"/>
            </a:lnSpc>
            <a:spcBef>
              <a:spcPct val="0"/>
            </a:spcBef>
            <a:spcAft>
              <a:spcPct val="35000"/>
            </a:spcAft>
            <a:buNone/>
          </a:pPr>
          <a:r>
            <a:rPr lang="en-US" sz="1600" kern="1200"/>
            <a:t>Apply &amp; preserve ACL permission model for SMB files ingested in </a:t>
          </a:r>
          <a:r>
            <a:rPr lang="en-US" sz="1600" kern="1200" err="1"/>
            <a:t>OneLake</a:t>
          </a:r>
          <a:endParaRPr lang="en-US" sz="1600" kern="1200"/>
        </a:p>
      </dsp:txBody>
      <dsp:txXfrm>
        <a:off x="3585269" y="1676947"/>
        <a:ext cx="1629667" cy="2084825"/>
      </dsp:txXfrm>
    </dsp:sp>
    <dsp:sp modelId="{7E31FCF7-4447-4071-89D6-292FCBC4B729}">
      <dsp:nvSpPr>
        <dsp:cNvPr id="0" name=""/>
        <dsp:cNvSpPr/>
      </dsp:nvSpPr>
      <dsp:spPr>
        <a:xfrm>
          <a:off x="4057872" y="1181298"/>
          <a:ext cx="684460" cy="684460"/>
        </a:xfrm>
        <a:prstGeom prst="ellips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63" tIns="12700" rIns="53363" bIns="12700" numCol="1" spcCol="1270" anchor="ctr" anchorCtr="0">
          <a:noAutofit/>
        </a:bodyPr>
        <a:lstStyle/>
        <a:p>
          <a:pPr marL="0" lvl="0" indent="0" algn="ctr" defTabSz="1333500">
            <a:lnSpc>
              <a:spcPct val="90000"/>
            </a:lnSpc>
            <a:spcBef>
              <a:spcPct val="0"/>
            </a:spcBef>
            <a:spcAft>
              <a:spcPct val="35000"/>
            </a:spcAft>
            <a:buNone/>
          </a:pPr>
          <a:r>
            <a:rPr lang="en-US" sz="3000" kern="1200"/>
            <a:t>3</a:t>
          </a:r>
        </a:p>
      </dsp:txBody>
      <dsp:txXfrm>
        <a:off x="4158109" y="1281535"/>
        <a:ext cx="483986" cy="483986"/>
      </dsp:txXfrm>
    </dsp:sp>
    <dsp:sp modelId="{675D3590-20B5-4DA0-8276-5A87E43C5C46}">
      <dsp:nvSpPr>
        <dsp:cNvPr id="0" name=""/>
        <dsp:cNvSpPr/>
      </dsp:nvSpPr>
      <dsp:spPr>
        <a:xfrm>
          <a:off x="3585269" y="3813727"/>
          <a:ext cx="1629667" cy="72"/>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EA9D00-AD98-C624-86F1-C5BA0A9795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81028AE-CC65-9AA2-0682-5D7E48E79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C3E16E-C9FF-42F8-AE3F-7012423440B5}" type="datetimeFigureOut">
              <a:rPr lang="en-US" smtClean="0"/>
              <a:t>1/16/2026</a:t>
            </a:fld>
            <a:endParaRPr lang="en-US"/>
          </a:p>
        </p:txBody>
      </p:sp>
      <p:sp>
        <p:nvSpPr>
          <p:cNvPr id="4" name="Footer Placeholder 3">
            <a:extLst>
              <a:ext uri="{FF2B5EF4-FFF2-40B4-BE49-F238E27FC236}">
                <a16:creationId xmlns:a16="http://schemas.microsoft.com/office/drawing/2014/main" id="{D9AD00EE-16AC-F1E0-80F6-B91F956612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E0B1C50-4880-D4F9-9AAE-2A59F405A4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549BB-FA4B-4451-83B2-382DB90A5732}" type="slidenum">
              <a:rPr lang="en-US" smtClean="0"/>
              <a:t>‹#›</a:t>
            </a:fld>
            <a:endParaRPr lang="en-US"/>
          </a:p>
        </p:txBody>
      </p:sp>
    </p:spTree>
    <p:extLst>
      <p:ext uri="{BB962C8B-B14F-4D97-AF65-F5344CB8AC3E}">
        <p14:creationId xmlns:p14="http://schemas.microsoft.com/office/powerpoint/2010/main" val="1914727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8C20C8-B571-4F7D-90E5-C000F84483B3}"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249D4C-2FE8-4E9B-BA3D-8F12D575F2F4}" type="slidenum">
              <a:rPr lang="en-US" smtClean="0"/>
              <a:t>‹#›</a:t>
            </a:fld>
            <a:endParaRPr lang="en-US"/>
          </a:p>
        </p:txBody>
      </p:sp>
    </p:spTree>
    <p:extLst>
      <p:ext uri="{BB962C8B-B14F-4D97-AF65-F5344CB8AC3E}">
        <p14:creationId xmlns:p14="http://schemas.microsoft.com/office/powerpoint/2010/main" val="241821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1/16/2026 2:43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6009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kumimoji="0" lang="en-US" sz="1200" b="0" i="0" u="none" strike="noStrike" kern="1200" cap="none" spc="0" normalizeH="0" baseline="0" noProof="0">
                <a:ln>
                  <a:noFill/>
                </a:ln>
                <a:solidFill>
                  <a:srgbClr val="E8E6DF"/>
                </a:solidFill>
                <a:effectLst/>
                <a:uLnTx/>
                <a:uFillTx/>
                <a:latin typeface="Segoe Sans Text"/>
                <a:ea typeface="+mn-ea"/>
                <a:cs typeface="Segoe UI" panose="020B0502040204020203" pitchFamily="34" charset="0"/>
              </a:rPr>
              <a:t>Customers have NAS file systems which have SMB or NFS shares mounted into VMs or Physical Machines.</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kumimoji="0" lang="en-US" sz="1200" b="0" i="0" u="none" strike="noStrike" kern="1200" cap="none" spc="0" normalizeH="0" baseline="0" noProof="0">
                <a:ln>
                  <a:noFill/>
                </a:ln>
                <a:solidFill>
                  <a:srgbClr val="E8E6DF"/>
                </a:solidFill>
                <a:effectLst/>
                <a:uLnTx/>
                <a:uFillTx/>
                <a:latin typeface="Segoe Sans Text"/>
                <a:ea typeface="+mn-ea"/>
                <a:cs typeface="Segoe UI"/>
              </a:rPr>
              <a:t>These NAS system have unstructured data in form on PDFs, Word, TXT and other formats. </a:t>
            </a:r>
            <a:endParaRPr lang="en-US" sz="1200" b="0" i="0" u="none" strike="noStrike" kern="1200" cap="none" spc="0" normalizeH="0" baseline="0" noProof="0">
              <a:ln>
                <a:noFill/>
              </a:ln>
              <a:solidFill>
                <a:srgbClr val="E8E6DF"/>
              </a:solidFill>
              <a:effectLst/>
              <a:uLnTx/>
              <a:uFillTx/>
              <a:latin typeface="Segoe Sans Text"/>
              <a:cs typeface="Segoe UI"/>
            </a:endParaRP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kumimoji="0" lang="en-US" sz="1200" b="0" i="0" u="none" strike="noStrike" kern="1200" cap="none" spc="0" normalizeH="0" baseline="0" noProof="0">
                <a:ln>
                  <a:noFill/>
                </a:ln>
                <a:solidFill>
                  <a:srgbClr val="E8E6DF"/>
                </a:solidFill>
                <a:effectLst/>
                <a:uLnTx/>
                <a:uFillTx/>
                <a:latin typeface="Segoe Sans Text"/>
                <a:ea typeface="+mn-ea"/>
                <a:cs typeface="Segoe UI" panose="020B0502040204020203" pitchFamily="34" charset="0"/>
              </a:rPr>
              <a:t>The NAS systems have insights that can be unlocked using Cohesity’s metadata extraction processes. </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lang="en-US" sz="1200">
                <a:solidFill>
                  <a:srgbClr val="E8E6DF"/>
                </a:solidFill>
                <a:latin typeface="Segoe Sans Text"/>
                <a:cs typeface="Segoe UI"/>
              </a:rPr>
              <a:t>Cohesity aims to provide these insights to their customers by integrating with Microsoft OneLake and Purview by leveraging data analytics capabilities in Microsoft Fabric and data governance capabilities in Microsoft Purview.</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kumimoji="0" lang="en-US" sz="1200" b="0" i="0" u="none" strike="noStrike" kern="1200" cap="none" spc="0" normalizeH="0" baseline="0" noProof="0">
                <a:ln>
                  <a:noFill/>
                </a:ln>
                <a:solidFill>
                  <a:srgbClr val="E8E6DF"/>
                </a:solidFill>
                <a:effectLst/>
                <a:uLnTx/>
                <a:uFillTx/>
                <a:latin typeface="Segoe Sans Text"/>
                <a:ea typeface="+mn-ea"/>
                <a:cs typeface="Segoe UI" panose="020B0502040204020203" pitchFamily="34" charset="0"/>
              </a:rPr>
              <a:t>For the current Phase 1</a:t>
            </a:r>
            <a:r>
              <a:rPr lang="en-US" sz="1200">
                <a:solidFill>
                  <a:srgbClr val="E8E6DF"/>
                </a:solidFill>
                <a:latin typeface="Segoe Sans Text"/>
              </a:rPr>
              <a:t>, SMB files are considered. </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lang="en-US" sz="1200">
                <a:solidFill>
                  <a:srgbClr val="E8E6DF"/>
                </a:solidFill>
                <a:latin typeface="Segoe Sans Text"/>
              </a:rPr>
              <a:t>SMB shares are integrated with On-premises Active Directory and will have Access Control Lists(ACL) on folders and files.</a:t>
            </a:r>
          </a:p>
          <a:p>
            <a:pPr>
              <a:lnSpc>
                <a:spcPct val="150000"/>
              </a:lnSpc>
              <a:defRPr/>
            </a:pPr>
            <a:r>
              <a:rPr lang="en-US" sz="1200">
                <a:solidFill>
                  <a:srgbClr val="E8E6DF"/>
                </a:solidFill>
                <a:latin typeface="Segoe Sans Text"/>
                <a:cs typeface="Segoe UI"/>
              </a:rPr>
              <a:t>These SMB files and permissions will need to be replicated on Fabric OneLake.</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lang="en-US" sz="1200">
                <a:solidFill>
                  <a:srgbClr val="E8E6DF"/>
                </a:solidFill>
                <a:latin typeface="Segoe Sans Text"/>
              </a:rPr>
              <a:t>In the end state, the users can derive insights and access the files according to their roles and permissions. </a:t>
            </a:r>
          </a:p>
          <a:p>
            <a:pPr marL="228600" marR="0" lvl="0" indent="-228600" algn="l" defTabSz="932742" rtl="0" eaLnBrk="1" fontAlgn="auto" latinLnBrk="0" hangingPunct="1">
              <a:lnSpc>
                <a:spcPct val="150000"/>
              </a:lnSpc>
              <a:spcBef>
                <a:spcPct val="20000"/>
              </a:spcBef>
              <a:spcAft>
                <a:spcPts val="0"/>
              </a:spcAft>
              <a:buClrTx/>
              <a:buSzPct val="90000"/>
              <a:buFont typeface="Wingdings" panose="05000000000000000000" pitchFamily="2" charset="2"/>
              <a:buChar char=""/>
              <a:tabLst/>
              <a:defRPr/>
            </a:pPr>
            <a:r>
              <a:rPr kumimoji="0" lang="en-US" sz="1200" b="0" i="0" u="none" strike="noStrike" kern="1200" cap="none" spc="0" normalizeH="0" baseline="0" noProof="0">
                <a:ln>
                  <a:noFill/>
                </a:ln>
                <a:solidFill>
                  <a:srgbClr val="E8E6DF"/>
                </a:solidFill>
                <a:effectLst/>
                <a:uLnTx/>
                <a:uFillTx/>
                <a:latin typeface="Segoe Sans Text"/>
                <a:ea typeface="+mn-ea"/>
                <a:cs typeface="Segoe UI"/>
              </a:rPr>
              <a:t>This </a:t>
            </a:r>
            <a:r>
              <a:rPr lang="en-US" sz="1200">
                <a:solidFill>
                  <a:srgbClr val="E8E6DF"/>
                </a:solidFill>
                <a:latin typeface="Segoe Sans Text"/>
                <a:cs typeface="Segoe UI"/>
              </a:rPr>
              <a:t>deck focused on NAS integration with Fabric OneLake followed up with Purview Integration. </a:t>
            </a:r>
            <a:endParaRPr lang="en-US" sz="1200" b="0" i="0" u="none" strike="noStrike" kern="1200" cap="none" spc="0" normalizeH="0" baseline="0" noProof="0">
              <a:ln>
                <a:noFill/>
              </a:ln>
              <a:solidFill>
                <a:srgbClr val="E8E6DF"/>
              </a:solidFill>
              <a:effectLst/>
              <a:uLnTx/>
              <a:uFillTx/>
              <a:latin typeface="Segoe Sans Text"/>
              <a:cs typeface="Segoe UI"/>
            </a:endParaRP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1/16/2026 2:43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479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1/16/2026 2:43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774254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1/16/2026 2:43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93479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CAA82-94EC-EA8A-62FF-C4B619EB4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8E38E-6DCF-183A-B8E7-EE1769CCA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1D6713-B6E1-1D0B-4FFB-B0E260A6F92A}"/>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26F3FA7A-274F-ED65-619E-7C879094F0C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ABA8EFE9-FCD3-249C-8681-75B4A3AF9F1F}"/>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mn-cs"/>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9F84707-BC00-19F5-B4AB-09C42CA263E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1/16/2026 2:43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3E30CC19-529D-CA61-6B44-D5FF77604D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441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02995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19988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7472254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49934755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27078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sv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172774573"/>
      </p:ext>
    </p:extLst>
  </p:cSld>
  <p:clrMap bg1="lt1" tx1="dk1" bg2="lt2" tx2="dk2" accent1="accent1" accent2="accent2" accent3="accent3" accent4="accent4" accent5="accent5" accent6="accent6" hlink="hlink" folHlink="folHlink"/>
  <p:sldLayoutIdLst>
    <p:sldLayoutId id="2147483686"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477090343"/>
      </p:ext>
    </p:extLst>
  </p:cSld>
  <p:clrMap bg1="lt1" tx1="dk1" bg2="lt2" tx2="dk2" accent1="accent1" accent2="accent2" accent3="accent3" accent4="accent4" accent5="accent5" accent6="accent6" hlink="hlink" folHlink="folHlink"/>
  <p:sldLayoutIdLst>
    <p:sldLayoutId id="2147483911" r:id="rId1"/>
    <p:sldLayoutId id="2147483918" r:id="rId2"/>
    <p:sldLayoutId id="2147483920" r:id="rId3"/>
    <p:sldLayoutId id="2147483977" r:id="rId4"/>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21.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image" Target="../media/image5.png"/><Relationship Id="rId16"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22.sv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fabric/onelake/create-s3-shortcut"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6.png"/><Relationship Id="rId3" Type="http://schemas.openxmlformats.org/officeDocument/2006/relationships/image" Target="../media/image6.svg"/><Relationship Id="rId7" Type="http://schemas.openxmlformats.org/officeDocument/2006/relationships/image" Target="../media/image12.png"/><Relationship Id="rId12" Type="http://schemas.openxmlformats.org/officeDocument/2006/relationships/image" Target="../media/image25.sv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24.png"/><Relationship Id="rId5" Type="http://schemas.openxmlformats.org/officeDocument/2006/relationships/image" Target="../media/image8.svg"/><Relationship Id="rId15" Type="http://schemas.openxmlformats.org/officeDocument/2006/relationships/image" Target="../media/image28.svg"/><Relationship Id="rId10" Type="http://schemas.openxmlformats.org/officeDocument/2006/relationships/image" Target="../media/image14.svg"/><Relationship Id="rId4" Type="http://schemas.openxmlformats.org/officeDocument/2006/relationships/image" Target="../media/image7.png"/><Relationship Id="rId9" Type="http://schemas.openxmlformats.org/officeDocument/2006/relationships/image" Target="../media/image23.svg"/><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6.svg"/><Relationship Id="rId7" Type="http://schemas.openxmlformats.org/officeDocument/2006/relationships/image" Target="../media/image25.svg"/><Relationship Id="rId12" Type="http://schemas.openxmlformats.org/officeDocument/2006/relationships/image" Target="../media/image37.svg"/><Relationship Id="rId2" Type="http://schemas.openxmlformats.org/officeDocument/2006/relationships/image" Target="../media/image5.png"/><Relationship Id="rId16" Type="http://schemas.openxmlformats.org/officeDocument/2006/relationships/image" Target="../media/image28.svg"/><Relationship Id="rId1" Type="http://schemas.openxmlformats.org/officeDocument/2006/relationships/slideLayout" Target="../slideLayouts/slideLayout5.xml"/><Relationship Id="rId6" Type="http://schemas.openxmlformats.org/officeDocument/2006/relationships/image" Target="../media/image24.png"/><Relationship Id="rId11" Type="http://schemas.openxmlformats.org/officeDocument/2006/relationships/image" Target="../media/image36.png"/><Relationship Id="rId5" Type="http://schemas.openxmlformats.org/officeDocument/2006/relationships/image" Target="../media/image32.svg"/><Relationship Id="rId15" Type="http://schemas.openxmlformats.org/officeDocument/2006/relationships/image" Target="../media/image27.png"/><Relationship Id="rId10" Type="http://schemas.openxmlformats.org/officeDocument/2006/relationships/image" Target="../media/image35.svg"/><Relationship Id="rId4" Type="http://schemas.openxmlformats.org/officeDocument/2006/relationships/image" Target="../media/image31.png"/><Relationship Id="rId9" Type="http://schemas.openxmlformats.org/officeDocument/2006/relationships/image" Target="../media/image34.png"/><Relationship Id="rId14" Type="http://schemas.openxmlformats.org/officeDocument/2006/relationships/image" Target="../media/image39.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2302670"/>
            <a:ext cx="9144000" cy="1231106"/>
          </a:xfrm>
        </p:spPr>
        <p:txBody>
          <a:bodyPr/>
          <a:lstStyle/>
          <a:p>
            <a:r>
              <a:rPr lang="en-US">
                <a:solidFill>
                  <a:schemeClr val="accent2"/>
                </a:solidFill>
              </a:rPr>
              <a:t>Modernizing Cohesity Customer Analytics on Microsoft Fabric</a:t>
            </a:r>
          </a:p>
        </p:txBody>
      </p:sp>
    </p:spTree>
    <p:extLst>
      <p:ext uri="{BB962C8B-B14F-4D97-AF65-F5344CB8AC3E}">
        <p14:creationId xmlns:p14="http://schemas.microsoft.com/office/powerpoint/2010/main" val="26393798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p:txBody>
          <a:bodyPr/>
          <a:lstStyle/>
          <a:p>
            <a:r>
              <a:rPr lang="en-US"/>
              <a:t>Requirements &amp; Assumptions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p:txBody>
          <a:bodyPr>
            <a:normAutofit/>
          </a:bodyPr>
          <a:lstStyle/>
          <a:p>
            <a:r>
              <a:rPr lang="en-US">
                <a:solidFill>
                  <a:schemeClr val="accent2"/>
                </a:solidFill>
              </a:rPr>
              <a:t>Environment</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084388"/>
            <a:ext cx="5219700" cy="3016210"/>
          </a:xfrm>
        </p:spPr>
        <p:txBody>
          <a:bodyPr/>
          <a:lstStyle/>
          <a:p>
            <a:r>
              <a:rPr lang="en-US" sz="2000"/>
              <a:t>NAS file system exposing SMB and/or NFS shares</a:t>
            </a:r>
          </a:p>
          <a:p>
            <a:r>
              <a:rPr lang="en-US" sz="2000"/>
              <a:t>A curated set of SMB data is exposed via an S3-compatible endpoint (assuming this is provided by Cohesity)</a:t>
            </a:r>
          </a:p>
          <a:p>
            <a:r>
              <a:rPr lang="en-US" sz="2000"/>
              <a:t>Unstructured files (PDFs, Word, txt)</a:t>
            </a:r>
          </a:p>
          <a:p>
            <a:r>
              <a:rPr lang="en-US" sz="2000"/>
              <a:t>Permissions file with existing permissions of Department owners on the file systems</a:t>
            </a:r>
          </a:p>
          <a:p>
            <a:r>
              <a:rPr lang="en-US" sz="2000"/>
              <a:t>Metadata of Classifications/Tags </a:t>
            </a:r>
          </a:p>
        </p:txBody>
      </p:sp>
      <p:sp>
        <p:nvSpPr>
          <p:cNvPr id="12" name="Text Placeholder 11">
            <a:extLst>
              <a:ext uri="{FF2B5EF4-FFF2-40B4-BE49-F238E27FC236}">
                <a16:creationId xmlns:a16="http://schemas.microsoft.com/office/drawing/2014/main" id="{3080DA2C-210D-4425-AD02-4BE53C4F28FA}"/>
              </a:ext>
            </a:extLst>
          </p:cNvPr>
          <p:cNvSpPr>
            <a:spLocks noGrp="1"/>
          </p:cNvSpPr>
          <p:nvPr>
            <p:ph type="body" sz="quarter" idx="17"/>
          </p:nvPr>
        </p:nvSpPr>
        <p:spPr/>
        <p:txBody>
          <a:bodyPr>
            <a:normAutofit/>
          </a:bodyPr>
          <a:lstStyle/>
          <a:p>
            <a:r>
              <a:rPr lang="en-US">
                <a:solidFill>
                  <a:schemeClr val="accent2"/>
                </a:solidFill>
              </a:rPr>
              <a:t>Requirements</a:t>
            </a:r>
          </a:p>
        </p:txBody>
      </p:sp>
      <p:graphicFrame>
        <p:nvGraphicFramePr>
          <p:cNvPr id="55" name="Text Placeholder 4">
            <a:extLst>
              <a:ext uri="{FF2B5EF4-FFF2-40B4-BE49-F238E27FC236}">
                <a16:creationId xmlns:a16="http://schemas.microsoft.com/office/drawing/2014/main" id="{6598E263-FD28-D7BE-56D7-E06C74578D61}"/>
              </a:ext>
            </a:extLst>
          </p:cNvPr>
          <p:cNvGraphicFramePr/>
          <p:nvPr>
            <p:extLst>
              <p:ext uri="{D42A27DB-BD31-4B8C-83A1-F6EECF244321}">
                <p14:modId xmlns:p14="http://schemas.microsoft.com/office/powerpoint/2010/main" val="1639403784"/>
              </p:ext>
            </p:extLst>
          </p:nvPr>
        </p:nvGraphicFramePr>
        <p:xfrm>
          <a:off x="6388102" y="1731328"/>
          <a:ext cx="5214937" cy="4187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 Placeholder 5">
            <a:extLst>
              <a:ext uri="{FF2B5EF4-FFF2-40B4-BE49-F238E27FC236}">
                <a16:creationId xmlns:a16="http://schemas.microsoft.com/office/drawing/2014/main" id="{4AE91E12-D358-C6C7-4011-F970FE59196F}"/>
              </a:ext>
            </a:extLst>
          </p:cNvPr>
          <p:cNvSpPr txBox="1">
            <a:spLocks/>
          </p:cNvSpPr>
          <p:nvPr/>
        </p:nvSpPr>
        <p:spPr>
          <a:xfrm>
            <a:off x="584199" y="5345987"/>
            <a:ext cx="5219700" cy="430887"/>
          </a:xfrm>
          <a:prstGeom prst="rect">
            <a:avLst/>
          </a:prstGeom>
        </p:spPr>
        <p:txBody>
          <a:bodyPr vert="horz" wrap="square" lIns="0" tIns="0" rIns="0" bIns="0" rtlCol="0" anchor="t">
            <a:norm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800" kern="1200" spc="0" baseline="0">
                <a:solidFill>
                  <a:schemeClr val="tx1"/>
                </a:solidFill>
                <a:latin typeface="+mj-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a:ln>
                  <a:noFill/>
                </a:ln>
                <a:solidFill>
                  <a:srgbClr val="C03BC4"/>
                </a:solidFill>
                <a:effectLst/>
                <a:uLnTx/>
                <a:uFillTx/>
                <a:latin typeface="Segoe Sans Display Semibold"/>
                <a:ea typeface="+mn-ea"/>
                <a:cs typeface="Segoe Sans Display" pitchFamily="2" charset="0"/>
              </a:rPr>
              <a:t>Target Implementation</a:t>
            </a:r>
          </a:p>
        </p:txBody>
      </p:sp>
      <p:sp>
        <p:nvSpPr>
          <p:cNvPr id="8" name="Text Placeholder 3">
            <a:extLst>
              <a:ext uri="{FF2B5EF4-FFF2-40B4-BE49-F238E27FC236}">
                <a16:creationId xmlns:a16="http://schemas.microsoft.com/office/drawing/2014/main" id="{2FA7FEAC-8AE9-2322-C487-76675B8B77A6}"/>
              </a:ext>
            </a:extLst>
          </p:cNvPr>
          <p:cNvSpPr txBox="1">
            <a:spLocks/>
          </p:cNvSpPr>
          <p:nvPr/>
        </p:nvSpPr>
        <p:spPr>
          <a:xfrm>
            <a:off x="487483" y="5914638"/>
            <a:ext cx="5219700" cy="677108"/>
          </a:xfrm>
          <a:prstGeom prst="rect">
            <a:avLst/>
          </a:prstGeom>
        </p:spPr>
        <p:txBody>
          <a:bodyPr vert="horz" wrap="square" lIns="0" tIns="0" rIns="0" bIns="0" rtlCol="0">
            <a:spAutoFit/>
          </a:bodyPr>
          <a:lstStyle>
            <a:lvl1pPr marL="171450" marR="0" indent="-1714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2400" kern="1200" spc="0" baseline="0" dirty="0">
                <a:solidFill>
                  <a:schemeClr val="tx1"/>
                </a:solidFill>
                <a:latin typeface="+mn-lt"/>
                <a:ea typeface="+mn-ea"/>
                <a:cs typeface="Segoe Sans Display" pitchFamily="2" charset="0"/>
              </a:defRPr>
            </a:lvl1pPr>
            <a:lvl2pPr marL="342900" marR="0" indent="-1714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2000" kern="1200" spc="0" baseline="0" dirty="0">
                <a:solidFill>
                  <a:schemeClr val="tx1"/>
                </a:solidFill>
                <a:latin typeface="+mn-lt"/>
                <a:ea typeface="+mn-ea"/>
                <a:cs typeface="+mn-cs"/>
              </a:defRPr>
            </a:lvl2pPr>
            <a:lvl3pPr marL="514350" marR="0" indent="-1714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666750" marR="0" indent="-1524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793750" marR="0" indent="-1206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marR="0" lvl="0" indent="-1714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Phase 1: SMB files &amp; ACL implementation</a:t>
            </a:r>
          </a:p>
          <a:p>
            <a:pPr marL="171450" marR="0" lvl="0" indent="-1714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Phase 2: Data Catalog &amp; Purview integration</a:t>
            </a:r>
          </a:p>
        </p:txBody>
      </p:sp>
    </p:spTree>
    <p:extLst>
      <p:ext uri="{BB962C8B-B14F-4D97-AF65-F5344CB8AC3E}">
        <p14:creationId xmlns:p14="http://schemas.microsoft.com/office/powerpoint/2010/main" val="4237014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53A9A-97AE-5ECA-FB40-D4003C677B32}"/>
              </a:ext>
            </a:extLst>
          </p:cNvPr>
          <p:cNvSpPr>
            <a:spLocks noGrp="1"/>
          </p:cNvSpPr>
          <p:nvPr>
            <p:ph type="title"/>
          </p:nvPr>
        </p:nvSpPr>
        <p:spPr>
          <a:xfrm>
            <a:off x="586740" y="242699"/>
            <a:ext cx="11018520" cy="553998"/>
          </a:xfrm>
        </p:spPr>
        <p:txBody>
          <a:bodyPr/>
          <a:lstStyle/>
          <a:p>
            <a:r>
              <a:rPr lang="en-US"/>
              <a:t>Loading On-Prem NAS on Fabric OneLake</a:t>
            </a:r>
          </a:p>
        </p:txBody>
      </p:sp>
      <p:cxnSp>
        <p:nvCxnSpPr>
          <p:cNvPr id="60" name="Straight Arrow Connector 59">
            <a:extLst>
              <a:ext uri="{FF2B5EF4-FFF2-40B4-BE49-F238E27FC236}">
                <a16:creationId xmlns:a16="http://schemas.microsoft.com/office/drawing/2014/main" id="{99C96F59-EB64-5A71-390E-771B677C4D58}"/>
              </a:ext>
            </a:extLst>
          </p:cNvPr>
          <p:cNvCxnSpPr>
            <a:cxnSpLocks/>
            <a:endCxn id="49" idx="1"/>
          </p:cNvCxnSpPr>
          <p:nvPr/>
        </p:nvCxnSpPr>
        <p:spPr>
          <a:xfrm>
            <a:off x="2531252" y="1827882"/>
            <a:ext cx="1206726" cy="0"/>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grpSp>
        <p:nvGrpSpPr>
          <p:cNvPr id="69" name="Group 68">
            <a:extLst>
              <a:ext uri="{FF2B5EF4-FFF2-40B4-BE49-F238E27FC236}">
                <a16:creationId xmlns:a16="http://schemas.microsoft.com/office/drawing/2014/main" id="{412B29C1-0E8F-1D92-2EE7-0BAF71E18BD3}"/>
              </a:ext>
            </a:extLst>
          </p:cNvPr>
          <p:cNvGrpSpPr/>
          <p:nvPr/>
        </p:nvGrpSpPr>
        <p:grpSpPr>
          <a:xfrm>
            <a:off x="3715229" y="1183215"/>
            <a:ext cx="3187221" cy="1128449"/>
            <a:chOff x="2210279" y="1078979"/>
            <a:chExt cx="3187221" cy="1128449"/>
          </a:xfrm>
        </p:grpSpPr>
        <p:grpSp>
          <p:nvGrpSpPr>
            <p:cNvPr id="68" name="Group 67">
              <a:extLst>
                <a:ext uri="{FF2B5EF4-FFF2-40B4-BE49-F238E27FC236}">
                  <a16:creationId xmlns:a16="http://schemas.microsoft.com/office/drawing/2014/main" id="{D57570CF-4BE6-BAAA-1F2A-04BA420FFBD4}"/>
                </a:ext>
              </a:extLst>
            </p:cNvPr>
            <p:cNvGrpSpPr/>
            <p:nvPr/>
          </p:nvGrpSpPr>
          <p:grpSpPr>
            <a:xfrm>
              <a:off x="2210279" y="1239864"/>
              <a:ext cx="3187221" cy="967564"/>
              <a:chOff x="2210279" y="1239864"/>
              <a:chExt cx="3187221" cy="967564"/>
            </a:xfrm>
          </p:grpSpPr>
          <p:sp>
            <p:nvSpPr>
              <p:cNvPr id="49" name="Rectangle: Top Corners Rounded 125">
                <a:extLst>
                  <a:ext uri="{FF2B5EF4-FFF2-40B4-BE49-F238E27FC236}">
                    <a16:creationId xmlns:a16="http://schemas.microsoft.com/office/drawing/2014/main" id="{C41F44CB-3B0C-A18E-2A90-2759ECA0300C}"/>
                  </a:ext>
                  <a:ext uri="{C183D7F6-B498-43B3-948B-1728B52AA6E4}">
                    <adec:decorative xmlns:adec="http://schemas.microsoft.com/office/drawing/2017/decorative" val="1"/>
                  </a:ext>
                </a:extLst>
              </p:cNvPr>
              <p:cNvSpPr/>
              <p:nvPr/>
            </p:nvSpPr>
            <p:spPr bwMode="auto">
              <a:xfrm>
                <a:off x="2233028" y="1239864"/>
                <a:ext cx="3164472" cy="967564"/>
              </a:xfrm>
              <a:prstGeom prst="roundRect">
                <a:avLst>
                  <a:gd name="adj" fmla="val 5046"/>
                </a:avLst>
              </a:prstGeom>
              <a:solidFill>
                <a:srgbClr val="FFFFFF"/>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pic>
            <p:nvPicPr>
              <p:cNvPr id="50" name="Graphic 49">
                <a:extLst>
                  <a:ext uri="{FF2B5EF4-FFF2-40B4-BE49-F238E27FC236}">
                    <a16:creationId xmlns:a16="http://schemas.microsoft.com/office/drawing/2014/main" id="{2A35E171-28A1-7BCC-5340-22C6EF7AC4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64491" y="1365671"/>
                <a:ext cx="515657" cy="515657"/>
              </a:xfrm>
              <a:prstGeom prst="rect">
                <a:avLst/>
              </a:prstGeom>
            </p:spPr>
          </p:pic>
          <p:sp>
            <p:nvSpPr>
              <p:cNvPr id="51" name="Rounded Rectangle 14">
                <a:extLst>
                  <a:ext uri="{FF2B5EF4-FFF2-40B4-BE49-F238E27FC236}">
                    <a16:creationId xmlns:a16="http://schemas.microsoft.com/office/drawing/2014/main" id="{224BDB3C-84B4-79F1-AF67-6625766F8524}"/>
                  </a:ext>
                  <a:ext uri="{C183D7F6-B498-43B3-948B-1728B52AA6E4}">
                    <adec:decorative xmlns:adec="http://schemas.microsoft.com/office/drawing/2017/decorative" val="0"/>
                  </a:ext>
                </a:extLst>
              </p:cNvPr>
              <p:cNvSpPr/>
              <p:nvPr/>
            </p:nvSpPr>
            <p:spPr>
              <a:xfrm>
                <a:off x="2210279" y="1851563"/>
                <a:ext cx="1282698"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a:solidFill>
                      <a:srgbClr val="0078D4">
                        <a:lumMod val="60000"/>
                        <a:lumOff val="40000"/>
                      </a:srgbClr>
                    </a:solidFill>
                    <a:latin typeface="Segoe Sans Text Semilight"/>
                    <a:cs typeface="Segoe Sans Display Semibold" pitchFamily="2" charset="0"/>
                  </a:rPr>
                  <a:t>Connect Sync</a:t>
                </a:r>
              </a:p>
            </p:txBody>
          </p:sp>
          <p:sp>
            <p:nvSpPr>
              <p:cNvPr id="52" name="Rounded Rectangle 14">
                <a:extLst>
                  <a:ext uri="{FF2B5EF4-FFF2-40B4-BE49-F238E27FC236}">
                    <a16:creationId xmlns:a16="http://schemas.microsoft.com/office/drawing/2014/main" id="{339613CB-F6D7-A56E-5E10-2B41FD7BCAC7}"/>
                  </a:ext>
                  <a:ext uri="{C183D7F6-B498-43B3-948B-1728B52AA6E4}">
                    <adec:decorative xmlns:adec="http://schemas.microsoft.com/office/drawing/2017/decorative" val="0"/>
                  </a:ext>
                </a:extLst>
              </p:cNvPr>
              <p:cNvSpPr/>
              <p:nvPr/>
            </p:nvSpPr>
            <p:spPr>
              <a:xfrm>
                <a:off x="3972102" y="1868730"/>
                <a:ext cx="1282698"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a:solidFill>
                      <a:srgbClr val="0078D4">
                        <a:lumMod val="60000"/>
                        <a:lumOff val="40000"/>
                      </a:srgbClr>
                    </a:solidFill>
                    <a:latin typeface="Segoe Sans Text Semilight"/>
                    <a:cs typeface="Segoe Sans Display Semibold" pitchFamily="2" charset="0"/>
                  </a:rPr>
                  <a:t>Entra Users</a:t>
                </a:r>
              </a:p>
            </p:txBody>
          </p:sp>
          <p:sp>
            <p:nvSpPr>
              <p:cNvPr id="54" name="Rounded Rectangle 14">
                <a:extLst>
                  <a:ext uri="{FF2B5EF4-FFF2-40B4-BE49-F238E27FC236}">
                    <a16:creationId xmlns:a16="http://schemas.microsoft.com/office/drawing/2014/main" id="{60864E19-4A54-89C8-4B50-F556E95C02B9}"/>
                  </a:ext>
                  <a:ext uri="{C183D7F6-B498-43B3-948B-1728B52AA6E4}">
                    <adec:decorative xmlns:adec="http://schemas.microsoft.com/office/drawing/2017/decorative" val="0"/>
                  </a:ext>
                </a:extLst>
              </p:cNvPr>
              <p:cNvSpPr/>
              <p:nvPr/>
            </p:nvSpPr>
            <p:spPr>
              <a:xfrm>
                <a:off x="2977876" y="1469008"/>
                <a:ext cx="1282698"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b="1">
                    <a:solidFill>
                      <a:schemeClr val="tx2"/>
                    </a:solidFill>
                    <a:latin typeface="Segoe Sans Text Semilight"/>
                    <a:cs typeface="Segoe Sans Display Semibold" pitchFamily="2" charset="0"/>
                  </a:rPr>
                  <a:t>Create Identities in Entra</a:t>
                </a:r>
              </a:p>
            </p:txBody>
          </p:sp>
          <p:pic>
            <p:nvPicPr>
              <p:cNvPr id="55" name="Graphic 54">
                <a:extLst>
                  <a:ext uri="{FF2B5EF4-FFF2-40B4-BE49-F238E27FC236}">
                    <a16:creationId xmlns:a16="http://schemas.microsoft.com/office/drawing/2014/main" id="{2A398A5E-E519-C827-BA2A-C71074D5DB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2952" y="1422093"/>
                <a:ext cx="381381" cy="381381"/>
              </a:xfrm>
              <a:prstGeom prst="rect">
                <a:avLst/>
              </a:prstGeom>
            </p:spPr>
          </p:pic>
          <p:cxnSp>
            <p:nvCxnSpPr>
              <p:cNvPr id="57" name="Straight Arrow Connector 56">
                <a:extLst>
                  <a:ext uri="{FF2B5EF4-FFF2-40B4-BE49-F238E27FC236}">
                    <a16:creationId xmlns:a16="http://schemas.microsoft.com/office/drawing/2014/main" id="{66EAD2B8-84F7-7135-B1EB-5FDD0D6E703D}"/>
                  </a:ext>
                </a:extLst>
              </p:cNvPr>
              <p:cNvCxnSpPr>
                <a:cxnSpLocks/>
              </p:cNvCxnSpPr>
              <p:nvPr/>
            </p:nvCxnSpPr>
            <p:spPr>
              <a:xfrm>
                <a:off x="3079750" y="1631868"/>
                <a:ext cx="1143000" cy="0"/>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grpSp>
        <p:sp>
          <p:nvSpPr>
            <p:cNvPr id="66" name="TextBox 65">
              <a:extLst>
                <a:ext uri="{FF2B5EF4-FFF2-40B4-BE49-F238E27FC236}">
                  <a16:creationId xmlns:a16="http://schemas.microsoft.com/office/drawing/2014/main" id="{6009B906-FE49-7784-1DAA-53C5BC23B5F8}"/>
                </a:ext>
              </a:extLst>
            </p:cNvPr>
            <p:cNvSpPr txBox="1"/>
            <p:nvPr/>
          </p:nvSpPr>
          <p:spPr>
            <a:xfrm>
              <a:off x="2801089" y="1078979"/>
              <a:ext cx="1763814" cy="276999"/>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Microsoft Entra ID</a:t>
              </a:r>
              <a:endParaRPr kumimoji="0" lang="en-US" sz="16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grpSp>
      <p:sp>
        <p:nvSpPr>
          <p:cNvPr id="45" name="Rectangle: Top Corners Rounded 125">
            <a:extLst>
              <a:ext uri="{FF2B5EF4-FFF2-40B4-BE49-F238E27FC236}">
                <a16:creationId xmlns:a16="http://schemas.microsoft.com/office/drawing/2014/main" id="{B52B6118-0E6E-3314-46CF-70CF08E51FF1}"/>
              </a:ext>
              <a:ext uri="{C183D7F6-B498-43B3-948B-1728B52AA6E4}">
                <adec:decorative xmlns:adec="http://schemas.microsoft.com/office/drawing/2017/decorative" val="1"/>
              </a:ext>
            </a:extLst>
          </p:cNvPr>
          <p:cNvSpPr/>
          <p:nvPr/>
        </p:nvSpPr>
        <p:spPr bwMode="auto">
          <a:xfrm>
            <a:off x="1295055" y="1175152"/>
            <a:ext cx="1236197" cy="3911470"/>
          </a:xfrm>
          <a:prstGeom prst="roundRect">
            <a:avLst>
              <a:gd name="adj" fmla="val 5046"/>
            </a:avLst>
          </a:prstGeom>
          <a:solidFill>
            <a:srgbClr val="FFFFFF"/>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grpSp>
        <p:nvGrpSpPr>
          <p:cNvPr id="132" name="Group 131">
            <a:extLst>
              <a:ext uri="{FF2B5EF4-FFF2-40B4-BE49-F238E27FC236}">
                <a16:creationId xmlns:a16="http://schemas.microsoft.com/office/drawing/2014/main" id="{3E894CD6-3AFA-49B4-9450-BB488097DD5C}"/>
              </a:ext>
            </a:extLst>
          </p:cNvPr>
          <p:cNvGrpSpPr/>
          <p:nvPr/>
        </p:nvGrpSpPr>
        <p:grpSpPr>
          <a:xfrm>
            <a:off x="1307724" y="1526437"/>
            <a:ext cx="1106980" cy="813482"/>
            <a:chOff x="448679" y="1837983"/>
            <a:chExt cx="1106980" cy="813482"/>
          </a:xfrm>
        </p:grpSpPr>
        <p:sp>
          <p:nvSpPr>
            <p:cNvPr id="10" name="Rounded Rectangle 14">
              <a:extLst>
                <a:ext uri="{FF2B5EF4-FFF2-40B4-BE49-F238E27FC236}">
                  <a16:creationId xmlns:a16="http://schemas.microsoft.com/office/drawing/2014/main" id="{F5458C35-FD3E-9EE5-2787-6ED9CBB5D0AD}"/>
                </a:ext>
                <a:ext uri="{C183D7F6-B498-43B3-948B-1728B52AA6E4}">
                  <adec:decorative xmlns:adec="http://schemas.microsoft.com/office/drawing/2017/decorative" val="0"/>
                </a:ext>
              </a:extLst>
            </p:cNvPr>
            <p:cNvSpPr/>
            <p:nvPr/>
          </p:nvSpPr>
          <p:spPr>
            <a:xfrm>
              <a:off x="448679" y="2343688"/>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AD Domain Controller</a:t>
              </a:r>
            </a:p>
          </p:txBody>
        </p:sp>
        <p:pic>
          <p:nvPicPr>
            <p:cNvPr id="17" name="Graphic 16">
              <a:extLst>
                <a:ext uri="{FF2B5EF4-FFF2-40B4-BE49-F238E27FC236}">
                  <a16:creationId xmlns:a16="http://schemas.microsoft.com/office/drawing/2014/main" id="{10B857AD-BA3B-0321-4022-B45627CD84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843" y="1837983"/>
              <a:ext cx="446661" cy="446661"/>
            </a:xfrm>
            <a:prstGeom prst="rect">
              <a:avLst/>
            </a:prstGeom>
          </p:spPr>
        </p:pic>
      </p:grpSp>
      <p:sp>
        <p:nvSpPr>
          <p:cNvPr id="12" name="Rounded Rectangle 14">
            <a:extLst>
              <a:ext uri="{FF2B5EF4-FFF2-40B4-BE49-F238E27FC236}">
                <a16:creationId xmlns:a16="http://schemas.microsoft.com/office/drawing/2014/main" id="{C2147768-EE87-B5C6-8EF5-5E6C646F8BF5}"/>
              </a:ext>
              <a:ext uri="{C183D7F6-B498-43B3-948B-1728B52AA6E4}">
                <adec:decorative xmlns:adec="http://schemas.microsoft.com/office/drawing/2017/decorative" val="0"/>
              </a:ext>
            </a:extLst>
          </p:cNvPr>
          <p:cNvSpPr/>
          <p:nvPr/>
        </p:nvSpPr>
        <p:spPr>
          <a:xfrm>
            <a:off x="1362913" y="3355844"/>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S3-Compatible Endpoint</a:t>
            </a:r>
          </a:p>
        </p:txBody>
      </p:sp>
      <p:grpSp>
        <p:nvGrpSpPr>
          <p:cNvPr id="135" name="Group 134">
            <a:extLst>
              <a:ext uri="{FF2B5EF4-FFF2-40B4-BE49-F238E27FC236}">
                <a16:creationId xmlns:a16="http://schemas.microsoft.com/office/drawing/2014/main" id="{E389A819-F198-E9B9-8E8E-2AC997083C12}"/>
              </a:ext>
            </a:extLst>
          </p:cNvPr>
          <p:cNvGrpSpPr/>
          <p:nvPr/>
        </p:nvGrpSpPr>
        <p:grpSpPr>
          <a:xfrm>
            <a:off x="1375500" y="4252591"/>
            <a:ext cx="1106980" cy="657149"/>
            <a:chOff x="443658" y="4694470"/>
            <a:chExt cx="1106980" cy="657149"/>
          </a:xfrm>
        </p:grpSpPr>
        <p:pic>
          <p:nvPicPr>
            <p:cNvPr id="34" name="Graphic 33">
              <a:extLst>
                <a:ext uri="{FF2B5EF4-FFF2-40B4-BE49-F238E27FC236}">
                  <a16:creationId xmlns:a16="http://schemas.microsoft.com/office/drawing/2014/main" id="{E39A72DE-584A-CE0C-2E19-3F12AC2456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5843" y="4694470"/>
              <a:ext cx="365272" cy="365272"/>
            </a:xfrm>
            <a:prstGeom prst="rect">
              <a:avLst/>
            </a:prstGeom>
          </p:spPr>
        </p:pic>
        <p:sp>
          <p:nvSpPr>
            <p:cNvPr id="44" name="Rounded Rectangle 14">
              <a:extLst>
                <a:ext uri="{FF2B5EF4-FFF2-40B4-BE49-F238E27FC236}">
                  <a16:creationId xmlns:a16="http://schemas.microsoft.com/office/drawing/2014/main" id="{A3D35DDB-16FC-3E6A-0036-B5BC2D82E059}"/>
                </a:ext>
                <a:ext uri="{C183D7F6-B498-43B3-948B-1728B52AA6E4}">
                  <adec:decorative xmlns:adec="http://schemas.microsoft.com/office/drawing/2017/decorative" val="0"/>
                </a:ext>
              </a:extLst>
            </p:cNvPr>
            <p:cNvSpPr/>
            <p:nvPr/>
          </p:nvSpPr>
          <p:spPr>
            <a:xfrm>
              <a:off x="443658" y="5043842"/>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On-prem Network Gateway</a:t>
              </a:r>
            </a:p>
          </p:txBody>
        </p:sp>
      </p:grpSp>
      <p:sp>
        <p:nvSpPr>
          <p:cNvPr id="70" name="TextBox 69">
            <a:extLst>
              <a:ext uri="{FF2B5EF4-FFF2-40B4-BE49-F238E27FC236}">
                <a16:creationId xmlns:a16="http://schemas.microsoft.com/office/drawing/2014/main" id="{08700D8D-733E-0410-4689-77056B07118E}"/>
              </a:ext>
            </a:extLst>
          </p:cNvPr>
          <p:cNvSpPr txBox="1"/>
          <p:nvPr/>
        </p:nvSpPr>
        <p:spPr>
          <a:xfrm>
            <a:off x="1381570" y="981507"/>
            <a:ext cx="1071574" cy="461665"/>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On-Prem Services</a:t>
            </a:r>
            <a:endParaRPr kumimoji="0" lang="en-US" sz="16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sp>
        <p:nvSpPr>
          <p:cNvPr id="147" name="Rectangle: Top Corners Rounded 125">
            <a:extLst>
              <a:ext uri="{FF2B5EF4-FFF2-40B4-BE49-F238E27FC236}">
                <a16:creationId xmlns:a16="http://schemas.microsoft.com/office/drawing/2014/main" id="{0AC1D57D-A67A-B9B2-1C43-292F7A3B5135}"/>
              </a:ext>
              <a:ext uri="{C183D7F6-B498-43B3-948B-1728B52AA6E4}">
                <adec:decorative xmlns:adec="http://schemas.microsoft.com/office/drawing/2017/decorative" val="1"/>
              </a:ext>
            </a:extLst>
          </p:cNvPr>
          <p:cNvSpPr/>
          <p:nvPr/>
        </p:nvSpPr>
        <p:spPr bwMode="auto">
          <a:xfrm>
            <a:off x="7928214" y="1608599"/>
            <a:ext cx="3263212" cy="2732637"/>
          </a:xfrm>
          <a:prstGeom prst="roundRect">
            <a:avLst>
              <a:gd name="adj" fmla="val 5046"/>
            </a:avLst>
          </a:prstGeom>
          <a:solidFill>
            <a:schemeClr val="bg1">
              <a:lumMod val="95000"/>
            </a:schemeClr>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sp>
        <p:nvSpPr>
          <p:cNvPr id="83" name="TextBox 82">
            <a:extLst>
              <a:ext uri="{FF2B5EF4-FFF2-40B4-BE49-F238E27FC236}">
                <a16:creationId xmlns:a16="http://schemas.microsoft.com/office/drawing/2014/main" id="{694A32CA-1D55-4D5F-7912-99D9B97531BD}"/>
              </a:ext>
              <a:ext uri="{C183D7F6-B498-43B3-948B-1728B52AA6E4}">
                <adec:decorative xmlns:adec="http://schemas.microsoft.com/office/drawing/2017/decorative" val="1"/>
              </a:ext>
            </a:extLst>
          </p:cNvPr>
          <p:cNvSpPr txBox="1"/>
          <p:nvPr/>
        </p:nvSpPr>
        <p:spPr>
          <a:xfrm>
            <a:off x="9029626" y="1842042"/>
            <a:ext cx="153330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800" b="1">
                <a:ln w="3175">
                  <a:noFill/>
                </a:ln>
                <a:gradFill flip="none" rotWithShape="1">
                  <a:gsLst>
                    <a:gs pos="80000">
                      <a:srgbClr val="318581"/>
                    </a:gs>
                    <a:gs pos="0">
                      <a:srgbClr val="0A6BBA"/>
                    </a:gs>
                  </a:gsLst>
                  <a:path path="circle">
                    <a:fillToRect l="100000" t="100000"/>
                  </a:path>
                  <a:tileRect r="-100000" b="-100000"/>
                </a:gradFill>
                <a:latin typeface="Segoe UI Semibold"/>
                <a:cs typeface="Segoe UI" pitchFamily="34" charset="0"/>
              </a:rPr>
              <a:t>Fabric Tenant</a:t>
            </a:r>
          </a:p>
        </p:txBody>
      </p:sp>
      <p:pic>
        <p:nvPicPr>
          <p:cNvPr id="84" name="Picture 83">
            <a:extLst>
              <a:ext uri="{FF2B5EF4-FFF2-40B4-BE49-F238E27FC236}">
                <a16:creationId xmlns:a16="http://schemas.microsoft.com/office/drawing/2014/main" id="{27A5C4C8-E18C-BB4C-8FE9-F64DA4EB44B1}"/>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668877" y="1850353"/>
            <a:ext cx="247402" cy="260377"/>
          </a:xfrm>
          <a:prstGeom prst="rect">
            <a:avLst/>
          </a:prstGeom>
        </p:spPr>
      </p:pic>
      <p:sp>
        <p:nvSpPr>
          <p:cNvPr id="121" name="Rounded Rectangle 45">
            <a:extLst>
              <a:ext uri="{FF2B5EF4-FFF2-40B4-BE49-F238E27FC236}">
                <a16:creationId xmlns:a16="http://schemas.microsoft.com/office/drawing/2014/main" id="{4F5CE360-A81D-707A-CDC1-1DFBDB1089BF}"/>
              </a:ext>
            </a:extLst>
          </p:cNvPr>
          <p:cNvSpPr/>
          <p:nvPr/>
        </p:nvSpPr>
        <p:spPr>
          <a:xfrm>
            <a:off x="9274563" y="3685193"/>
            <a:ext cx="1410867" cy="433398"/>
          </a:xfrm>
          <a:prstGeom prst="roundRect">
            <a:avLst>
              <a:gd name="adj" fmla="val 4528"/>
            </a:avLst>
          </a:prstGeom>
          <a:noFill/>
          <a:ln>
            <a:noFill/>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defTabSz="914400">
              <a:defRPr/>
            </a:pPr>
            <a:r>
              <a:rPr lang="en-US" sz="1200" kern="0">
                <a:solidFill>
                  <a:schemeClr val="tx2"/>
                </a:solidFill>
                <a:latin typeface="Segoe UI Semibold"/>
                <a:cs typeface="Segoe UI" panose="020B0502040204020203" pitchFamily="34" charset="0"/>
              </a:rPr>
              <a:t>OneLake Security</a:t>
            </a:r>
          </a:p>
        </p:txBody>
      </p:sp>
      <p:pic>
        <p:nvPicPr>
          <p:cNvPr id="122" name="Picture 121" descr="Logo, company name&#10;&#10;Description automatically generated">
            <a:extLst>
              <a:ext uri="{FF2B5EF4-FFF2-40B4-BE49-F238E27FC236}">
                <a16:creationId xmlns:a16="http://schemas.microsoft.com/office/drawing/2014/main" id="{111615D6-8F7C-CA92-61EE-0C48F38443FA}"/>
              </a:ext>
            </a:extLst>
          </p:cNvPr>
          <p:cNvPicPr>
            <a:picLocks noChangeAspect="1"/>
          </p:cNvPicPr>
          <p:nvPr/>
        </p:nvPicPr>
        <p:blipFill rotWithShape="1">
          <a:blip r:embed="rId9">
            <a:extLst>
              <a:ext uri="{28A0092B-C50C-407E-A947-70E740481C1C}">
                <a14:useLocalDpi xmlns:a14="http://schemas.microsoft.com/office/drawing/2010/main" val="0"/>
              </a:ext>
            </a:extLst>
          </a:blip>
          <a:srcRect l="-7916" r="-7916"/>
          <a:stretch/>
        </p:blipFill>
        <p:spPr>
          <a:xfrm>
            <a:off x="8898662" y="3728725"/>
            <a:ext cx="400384" cy="346336"/>
          </a:xfrm>
          <a:prstGeom prst="rect">
            <a:avLst/>
          </a:prstGeom>
        </p:spPr>
      </p:pic>
      <p:pic>
        <p:nvPicPr>
          <p:cNvPr id="123" name="Graphic 122" descr="Lock with solid fill">
            <a:extLst>
              <a:ext uri="{FF2B5EF4-FFF2-40B4-BE49-F238E27FC236}">
                <a16:creationId xmlns:a16="http://schemas.microsoft.com/office/drawing/2014/main" id="{1D3B2AAC-4DA9-AA2F-72DC-705751EFB97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55305" y="3702491"/>
            <a:ext cx="398872" cy="379309"/>
          </a:xfrm>
          <a:prstGeom prst="rect">
            <a:avLst/>
          </a:prstGeom>
        </p:spPr>
      </p:pic>
      <p:sp>
        <p:nvSpPr>
          <p:cNvPr id="82" name="TextBox 81">
            <a:extLst>
              <a:ext uri="{FF2B5EF4-FFF2-40B4-BE49-F238E27FC236}">
                <a16:creationId xmlns:a16="http://schemas.microsoft.com/office/drawing/2014/main" id="{C1BEEEC0-92D2-3FDA-6AFE-E89E43039F5F}"/>
              </a:ext>
              <a:ext uri="{C183D7F6-B498-43B3-948B-1728B52AA6E4}">
                <adec:decorative xmlns:adec="http://schemas.microsoft.com/office/drawing/2017/decorative" val="1"/>
              </a:ext>
            </a:extLst>
          </p:cNvPr>
          <p:cNvSpPr txBox="1"/>
          <p:nvPr/>
        </p:nvSpPr>
        <p:spPr>
          <a:xfrm>
            <a:off x="8488468" y="2275345"/>
            <a:ext cx="2047863"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100">
                <a:latin typeface="+mj-lt"/>
                <a:cs typeface="Segoe UI"/>
              </a:rPr>
              <a:t>Workspace A</a:t>
            </a:r>
            <a:endParaRPr lang="en-US" sz="1100">
              <a:latin typeface="+mj-lt"/>
            </a:endParaRPr>
          </a:p>
        </p:txBody>
      </p:sp>
      <p:cxnSp>
        <p:nvCxnSpPr>
          <p:cNvPr id="99" name="Straight Arrow Connector 98">
            <a:extLst>
              <a:ext uri="{FF2B5EF4-FFF2-40B4-BE49-F238E27FC236}">
                <a16:creationId xmlns:a16="http://schemas.microsoft.com/office/drawing/2014/main" id="{2FB5DAE4-E13C-40FB-947E-0FBFDBD5967E}"/>
              </a:ext>
              <a:ext uri="{C183D7F6-B498-43B3-948B-1728B52AA6E4}">
                <adec:decorative xmlns:adec="http://schemas.microsoft.com/office/drawing/2017/decorative" val="1"/>
              </a:ext>
            </a:extLst>
          </p:cNvPr>
          <p:cNvCxnSpPr>
            <a:cxnSpLocks/>
          </p:cNvCxnSpPr>
          <p:nvPr/>
        </p:nvCxnSpPr>
        <p:spPr>
          <a:xfrm>
            <a:off x="9395419" y="2997752"/>
            <a:ext cx="352563" cy="0"/>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00" name="Rounded Rectangle 14">
            <a:extLst>
              <a:ext uri="{FF2B5EF4-FFF2-40B4-BE49-F238E27FC236}">
                <a16:creationId xmlns:a16="http://schemas.microsoft.com/office/drawing/2014/main" id="{2F787B2B-270E-B9DE-DBE7-184BF5FB000A}"/>
              </a:ext>
              <a:ext uri="{C183D7F6-B498-43B3-948B-1728B52AA6E4}">
                <adec:decorative xmlns:adec="http://schemas.microsoft.com/office/drawing/2017/decorative" val="0"/>
              </a:ext>
            </a:extLst>
          </p:cNvPr>
          <p:cNvSpPr/>
          <p:nvPr/>
        </p:nvSpPr>
        <p:spPr>
          <a:xfrm>
            <a:off x="8668877" y="3159706"/>
            <a:ext cx="902824" cy="307777"/>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14400">
              <a:defRPr/>
            </a:pPr>
            <a:r>
              <a:rPr lang="en-US" sz="1000" kern="0" err="1">
                <a:latin typeface="Segoe Sans Display (Body)"/>
                <a:cs typeface="Segoe UI Semibold"/>
              </a:rPr>
              <a:t>OneLake</a:t>
            </a:r>
            <a:r>
              <a:rPr lang="en-US" sz="1000" kern="0">
                <a:latin typeface="Segoe Sans Display (Body)"/>
                <a:cs typeface="Segoe UI Semibold"/>
              </a:rPr>
              <a:t> </a:t>
            </a:r>
            <a:r>
              <a:rPr lang="en-US" sz="1000" kern="0" err="1">
                <a:latin typeface="Segoe Sans Display (Body)"/>
                <a:cs typeface="Segoe UI Semibold"/>
              </a:rPr>
              <a:t>ShortCut</a:t>
            </a:r>
            <a:endParaRPr lang="en-US" sz="1000">
              <a:latin typeface="Segoe Sans Display (Body)"/>
            </a:endParaRPr>
          </a:p>
        </p:txBody>
      </p:sp>
      <p:sp>
        <p:nvSpPr>
          <p:cNvPr id="124" name="TextBox 123">
            <a:extLst>
              <a:ext uri="{FF2B5EF4-FFF2-40B4-BE49-F238E27FC236}">
                <a16:creationId xmlns:a16="http://schemas.microsoft.com/office/drawing/2014/main" id="{438B5C25-DDFC-B49A-5F65-70582D5309D7}"/>
              </a:ext>
              <a:ext uri="{C183D7F6-B498-43B3-948B-1728B52AA6E4}">
                <adec:decorative xmlns:adec="http://schemas.microsoft.com/office/drawing/2017/decorative" val="1"/>
              </a:ext>
            </a:extLst>
          </p:cNvPr>
          <p:cNvSpPr txBox="1"/>
          <p:nvPr/>
        </p:nvSpPr>
        <p:spPr>
          <a:xfrm>
            <a:off x="9715689" y="3137494"/>
            <a:ext cx="650906" cy="1538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000">
                <a:cs typeface="Segoe UI"/>
              </a:rPr>
              <a:t>Lakehouse</a:t>
            </a:r>
          </a:p>
        </p:txBody>
      </p:sp>
      <p:sp>
        <p:nvSpPr>
          <p:cNvPr id="125" name="Graphic 12">
            <a:extLst>
              <a:ext uri="{FF2B5EF4-FFF2-40B4-BE49-F238E27FC236}">
                <a16:creationId xmlns:a16="http://schemas.microsoft.com/office/drawing/2014/main" id="{DD15532C-1FBA-672D-1D93-3B00F76D7812}"/>
              </a:ext>
              <a:ext uri="{C183D7F6-B498-43B3-948B-1728B52AA6E4}">
                <adec:decorative xmlns:adec="http://schemas.microsoft.com/office/drawing/2017/decorative" val="1"/>
              </a:ext>
            </a:extLst>
          </p:cNvPr>
          <p:cNvSpPr/>
          <p:nvPr/>
        </p:nvSpPr>
        <p:spPr>
          <a:xfrm>
            <a:off x="9890603" y="2874848"/>
            <a:ext cx="241760" cy="218614"/>
          </a:xfrm>
          <a:custGeom>
            <a:avLst/>
            <a:gdLst>
              <a:gd name="connsiteX0" fmla="*/ 71914 w 171450"/>
              <a:gd name="connsiteY0" fmla="*/ 5044 h 185704"/>
              <a:gd name="connsiteX1" fmla="*/ 99536 w 171450"/>
              <a:gd name="connsiteY1" fmla="*/ 5044 h 185704"/>
              <a:gd name="connsiteX2" fmla="*/ 163830 w 171450"/>
              <a:gd name="connsiteY2" fmla="*/ 59289 h 185704"/>
              <a:gd name="connsiteX3" fmla="*/ 171450 w 171450"/>
              <a:gd name="connsiteY3" fmla="*/ 75672 h 185704"/>
              <a:gd name="connsiteX4" fmla="*/ 171450 w 171450"/>
              <a:gd name="connsiteY4" fmla="*/ 169036 h 185704"/>
              <a:gd name="connsiteX5" fmla="*/ 154781 w 171450"/>
              <a:gd name="connsiteY5" fmla="*/ 185705 h 185704"/>
              <a:gd name="connsiteX6" fmla="*/ 126206 w 171450"/>
              <a:gd name="connsiteY6" fmla="*/ 185705 h 185704"/>
              <a:gd name="connsiteX7" fmla="*/ 109538 w 171450"/>
              <a:gd name="connsiteY7" fmla="*/ 169036 h 185704"/>
              <a:gd name="connsiteX8" fmla="*/ 109538 w 171450"/>
              <a:gd name="connsiteY8" fmla="*/ 121411 h 185704"/>
              <a:gd name="connsiteX9" fmla="*/ 102394 w 171450"/>
              <a:gd name="connsiteY9" fmla="*/ 114267 h 185704"/>
              <a:gd name="connsiteX10" fmla="*/ 69056 w 171450"/>
              <a:gd name="connsiteY10" fmla="*/ 114267 h 185704"/>
              <a:gd name="connsiteX11" fmla="*/ 61913 w 171450"/>
              <a:gd name="connsiteY11" fmla="*/ 121411 h 185704"/>
              <a:gd name="connsiteX12" fmla="*/ 61913 w 171450"/>
              <a:gd name="connsiteY12" fmla="*/ 169036 h 185704"/>
              <a:gd name="connsiteX13" fmla="*/ 45244 w 171450"/>
              <a:gd name="connsiteY13" fmla="*/ 185705 h 185704"/>
              <a:gd name="connsiteX14" fmla="*/ 16669 w 171450"/>
              <a:gd name="connsiteY14" fmla="*/ 185705 h 185704"/>
              <a:gd name="connsiteX15" fmla="*/ 0 w 171450"/>
              <a:gd name="connsiteY15" fmla="*/ 169036 h 185704"/>
              <a:gd name="connsiteX16" fmla="*/ 0 w 171450"/>
              <a:gd name="connsiteY16" fmla="*/ 75662 h 185704"/>
              <a:gd name="connsiteX17" fmla="*/ 7620 w 171450"/>
              <a:gd name="connsiteY17" fmla="*/ 59279 h 185704"/>
              <a:gd name="connsiteX18" fmla="*/ 71914 w 171450"/>
              <a:gd name="connsiteY18" fmla="*/ 5044 h 18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85704">
                <a:moveTo>
                  <a:pt x="71914" y="5044"/>
                </a:moveTo>
                <a:cubicBezTo>
                  <a:pt x="79893" y="-1681"/>
                  <a:pt x="91557" y="-1681"/>
                  <a:pt x="99536" y="5044"/>
                </a:cubicBezTo>
                <a:lnTo>
                  <a:pt x="163830" y="59289"/>
                </a:lnTo>
                <a:cubicBezTo>
                  <a:pt x="168669" y="63356"/>
                  <a:pt x="171450" y="69347"/>
                  <a:pt x="171450" y="75672"/>
                </a:cubicBezTo>
                <a:lnTo>
                  <a:pt x="171450" y="169036"/>
                </a:lnTo>
                <a:cubicBezTo>
                  <a:pt x="171450" y="178242"/>
                  <a:pt x="163987" y="185705"/>
                  <a:pt x="154781" y="185705"/>
                </a:cubicBezTo>
                <a:lnTo>
                  <a:pt x="126206" y="185705"/>
                </a:lnTo>
                <a:cubicBezTo>
                  <a:pt x="117000" y="185705"/>
                  <a:pt x="109538" y="178242"/>
                  <a:pt x="109538" y="169036"/>
                </a:cubicBezTo>
                <a:lnTo>
                  <a:pt x="109538" y="121411"/>
                </a:lnTo>
                <a:cubicBezTo>
                  <a:pt x="109538" y="117466"/>
                  <a:pt x="106339" y="114267"/>
                  <a:pt x="102394" y="114267"/>
                </a:cubicBezTo>
                <a:lnTo>
                  <a:pt x="69056" y="114267"/>
                </a:lnTo>
                <a:cubicBezTo>
                  <a:pt x="65111" y="114267"/>
                  <a:pt x="61913" y="117466"/>
                  <a:pt x="61913" y="121411"/>
                </a:cubicBezTo>
                <a:lnTo>
                  <a:pt x="61913" y="169036"/>
                </a:lnTo>
                <a:cubicBezTo>
                  <a:pt x="61913" y="178242"/>
                  <a:pt x="54450" y="185705"/>
                  <a:pt x="45244" y="185705"/>
                </a:cubicBezTo>
                <a:lnTo>
                  <a:pt x="16669" y="185705"/>
                </a:lnTo>
                <a:cubicBezTo>
                  <a:pt x="7463" y="185705"/>
                  <a:pt x="0" y="178242"/>
                  <a:pt x="0" y="169036"/>
                </a:cubicBezTo>
                <a:lnTo>
                  <a:pt x="0" y="75662"/>
                </a:lnTo>
                <a:cubicBezTo>
                  <a:pt x="0" y="69347"/>
                  <a:pt x="2781" y="63356"/>
                  <a:pt x="7620" y="59279"/>
                </a:cubicBezTo>
                <a:lnTo>
                  <a:pt x="71914" y="5044"/>
                </a:lnTo>
                <a:close/>
              </a:path>
            </a:pathLst>
          </a:custGeom>
          <a:solidFill>
            <a:srgbClr val="212121"/>
          </a:solidFill>
          <a:ln w="9525" cap="flat">
            <a:noFill/>
            <a:prstDash val="solid"/>
            <a:miter/>
          </a:ln>
        </p:spPr>
        <p:txBody>
          <a:bodyPr rtlCol="0" anchor="ctr"/>
          <a:lstStyle/>
          <a:p>
            <a:endParaRPr lang="en-US"/>
          </a:p>
        </p:txBody>
      </p:sp>
      <p:sp>
        <p:nvSpPr>
          <p:cNvPr id="149" name="Rectangle: Rounded Corners 25">
            <a:extLst>
              <a:ext uri="{FF2B5EF4-FFF2-40B4-BE49-F238E27FC236}">
                <a16:creationId xmlns:a16="http://schemas.microsoft.com/office/drawing/2014/main" id="{D3A6CD55-6DBE-43FC-0667-3252D74F2FC9}"/>
              </a:ext>
              <a:ext uri="{C183D7F6-B498-43B3-948B-1728B52AA6E4}">
                <adec:decorative xmlns:adec="http://schemas.microsoft.com/office/drawing/2017/decorative" val="1"/>
              </a:ext>
            </a:extLst>
          </p:cNvPr>
          <p:cNvSpPr/>
          <p:nvPr/>
        </p:nvSpPr>
        <p:spPr>
          <a:xfrm>
            <a:off x="5271712" y="3494170"/>
            <a:ext cx="1373167" cy="834031"/>
          </a:xfrm>
          <a:prstGeom prst="roundRect">
            <a:avLst>
              <a:gd name="adj" fmla="val 5425"/>
            </a:avLst>
          </a:prstGeom>
          <a:noFill/>
          <a:ln w="12700" cap="rnd" cmpd="sng" algn="ctr">
            <a:solidFill>
              <a:srgbClr val="0A0A0A"/>
            </a:solidFill>
            <a:prstDash val="dash"/>
            <a:miter lim="800000"/>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defRPr/>
            </a:pPr>
            <a:endParaRPr lang="en-IN" sz="800" kern="0">
              <a:solidFill>
                <a:srgbClr val="000000"/>
              </a:solidFill>
              <a:latin typeface="+mj-lt"/>
            </a:endParaRPr>
          </a:p>
        </p:txBody>
      </p:sp>
      <p:grpSp>
        <p:nvGrpSpPr>
          <p:cNvPr id="163" name="Group 162">
            <a:extLst>
              <a:ext uri="{FF2B5EF4-FFF2-40B4-BE49-F238E27FC236}">
                <a16:creationId xmlns:a16="http://schemas.microsoft.com/office/drawing/2014/main" id="{967DD302-2C8B-4A76-1D33-62E44B320BDB}"/>
              </a:ext>
            </a:extLst>
          </p:cNvPr>
          <p:cNvGrpSpPr/>
          <p:nvPr/>
        </p:nvGrpSpPr>
        <p:grpSpPr>
          <a:xfrm>
            <a:off x="6303411" y="4143950"/>
            <a:ext cx="472886" cy="368501"/>
            <a:chOff x="2144228" y="4886746"/>
            <a:chExt cx="472886" cy="368501"/>
          </a:xfrm>
        </p:grpSpPr>
        <p:sp>
          <p:nvSpPr>
            <p:cNvPr id="160" name="Title 1">
              <a:extLst>
                <a:ext uri="{FF2B5EF4-FFF2-40B4-BE49-F238E27FC236}">
                  <a16:creationId xmlns:a16="http://schemas.microsoft.com/office/drawing/2014/main" id="{538E1F42-E5EC-91FA-58BA-3772CDF65FD1}"/>
                </a:ext>
                <a:ext uri="{C183D7F6-B498-43B3-948B-1728B52AA6E4}">
                  <adec:decorative xmlns:adec="http://schemas.microsoft.com/office/drawing/2017/decorative" val="1"/>
                </a:ext>
              </a:extLst>
            </p:cNvPr>
            <p:cNvSpPr txBox="1">
              <a:spLocks/>
            </p:cNvSpPr>
            <p:nvPr/>
          </p:nvSpPr>
          <p:spPr>
            <a:xfrm>
              <a:off x="2144228" y="5132136"/>
              <a:ext cx="472886" cy="123111"/>
            </a:xfrm>
            <a:prstGeom prst="rect">
              <a:avLst/>
            </a:prstGeom>
          </p:spPr>
          <p:txBody>
            <a:bodyPr vert="horz" wrap="none" lIns="0" tIns="0" rIns="0" bIns="0" rtlCol="0" anchor="t">
              <a:spAutoFit/>
            </a:bodyPr>
            <a:lstStyle>
              <a:lvl1pPr algn="l" defTabSz="914367" rtl="0" eaLnBrk="1" latinLnBrk="0" hangingPunct="1">
                <a:lnSpc>
                  <a:spcPts val="3137"/>
                </a:lnSpc>
                <a:spcBef>
                  <a:spcPct val="0"/>
                </a:spcBef>
                <a:buNone/>
                <a:defRPr lang="en-US" sz="2745" b="0" strike="noStrike" kern="1200" cap="none" spc="-49" baseline="0">
                  <a:ln w="3175">
                    <a:noFill/>
                  </a:ln>
                  <a:solidFill>
                    <a:schemeClr val="tx1"/>
                  </a:solidFill>
                  <a:effectLst/>
                  <a:latin typeface="+mj-lt"/>
                  <a:ea typeface="+mn-ea"/>
                  <a:cs typeface="Segoe UI" pitchFamily="34" charset="0"/>
                </a:defRPr>
              </a:lvl1pPr>
            </a:lstStyle>
            <a:p>
              <a:pPr algn="ctr" defTabSz="932563">
                <a:lnSpc>
                  <a:spcPct val="100000"/>
                </a:lnSpc>
                <a:spcAft>
                  <a:spcPts val="612"/>
                </a:spcAft>
                <a:defRPr/>
              </a:pPr>
              <a:r>
                <a:rPr sz="800" spc="0">
                  <a:solidFill>
                    <a:srgbClr val="000000"/>
                  </a:solidFill>
                  <a:latin typeface="+mn-lt"/>
                  <a:cs typeface="Segoe Sans Display Semibold" pitchFamily="2" charset="0"/>
                </a:rPr>
                <a:t>Prod VNet</a:t>
              </a:r>
            </a:p>
          </p:txBody>
        </p:sp>
        <p:sp>
          <p:nvSpPr>
            <p:cNvPr id="161" name="Rectangle 160">
              <a:extLst>
                <a:ext uri="{FF2B5EF4-FFF2-40B4-BE49-F238E27FC236}">
                  <a16:creationId xmlns:a16="http://schemas.microsoft.com/office/drawing/2014/main" id="{D678C269-5B1D-D63D-BA19-9E64EA4A120A}"/>
                </a:ext>
                <a:ext uri="{C183D7F6-B498-43B3-948B-1728B52AA6E4}">
                  <adec:decorative xmlns:adec="http://schemas.microsoft.com/office/drawing/2017/decorative" val="1"/>
                </a:ext>
              </a:extLst>
            </p:cNvPr>
            <p:cNvSpPr/>
            <p:nvPr/>
          </p:nvSpPr>
          <p:spPr bwMode="auto">
            <a:xfrm>
              <a:off x="2233923" y="4886746"/>
              <a:ext cx="368214" cy="2351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162" name="Graphic 161">
              <a:extLst>
                <a:ext uri="{FF2B5EF4-FFF2-40B4-BE49-F238E27FC236}">
                  <a16:creationId xmlns:a16="http://schemas.microsoft.com/office/drawing/2014/main" id="{22D47871-837E-3A5C-AD47-EA66572420AD}"/>
                </a:ext>
                <a:ext uri="{C183D7F6-B498-43B3-948B-1728B52AA6E4}">
                  <adec:decorative xmlns:adec="http://schemas.microsoft.com/office/drawing/2017/decorative" val="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9296" b="19295"/>
            <a:stretch/>
          </p:blipFill>
          <p:spPr>
            <a:xfrm>
              <a:off x="2241509" y="4920424"/>
              <a:ext cx="327997" cy="201418"/>
            </a:xfrm>
            <a:prstGeom prst="rect">
              <a:avLst/>
            </a:prstGeom>
          </p:spPr>
        </p:pic>
      </p:grpSp>
      <p:grpSp>
        <p:nvGrpSpPr>
          <p:cNvPr id="167" name="Group 166">
            <a:extLst>
              <a:ext uri="{FF2B5EF4-FFF2-40B4-BE49-F238E27FC236}">
                <a16:creationId xmlns:a16="http://schemas.microsoft.com/office/drawing/2014/main" id="{25C63AE9-4426-F2A3-9FE7-3F58B7BCE030}"/>
              </a:ext>
            </a:extLst>
          </p:cNvPr>
          <p:cNvGrpSpPr/>
          <p:nvPr/>
        </p:nvGrpSpPr>
        <p:grpSpPr>
          <a:xfrm>
            <a:off x="5418471" y="3745662"/>
            <a:ext cx="1104841" cy="333300"/>
            <a:chOff x="8027004" y="4266518"/>
            <a:chExt cx="1352784" cy="378986"/>
          </a:xfrm>
        </p:grpSpPr>
        <p:sp>
          <p:nvSpPr>
            <p:cNvPr id="168" name="Rounded Rectangle 14">
              <a:extLst>
                <a:ext uri="{FF2B5EF4-FFF2-40B4-BE49-F238E27FC236}">
                  <a16:creationId xmlns:a16="http://schemas.microsoft.com/office/drawing/2014/main" id="{8345BF5C-4429-79B1-012A-07C0B40B8A1B}"/>
                </a:ext>
                <a:ext uri="{C183D7F6-B498-43B3-948B-1728B52AA6E4}">
                  <adec:decorative xmlns:adec="http://schemas.microsoft.com/office/drawing/2017/decorative" val="0"/>
                </a:ext>
              </a:extLst>
            </p:cNvPr>
            <p:cNvSpPr/>
            <p:nvPr/>
          </p:nvSpPr>
          <p:spPr>
            <a:xfrm>
              <a:off x="8272808" y="4337727"/>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Azure Network Gateway</a:t>
              </a:r>
            </a:p>
          </p:txBody>
        </p:sp>
        <p:pic>
          <p:nvPicPr>
            <p:cNvPr id="169" name="Graphic 168">
              <a:extLst>
                <a:ext uri="{FF2B5EF4-FFF2-40B4-BE49-F238E27FC236}">
                  <a16:creationId xmlns:a16="http://schemas.microsoft.com/office/drawing/2014/main" id="{5EE9D30D-7088-8D2B-9157-4C8895D8459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027004" y="4266518"/>
              <a:ext cx="341701" cy="341701"/>
            </a:xfrm>
            <a:prstGeom prst="rect">
              <a:avLst/>
            </a:prstGeom>
          </p:spPr>
        </p:pic>
      </p:grpSp>
      <p:cxnSp>
        <p:nvCxnSpPr>
          <p:cNvPr id="74" name="Straight Arrow Connector 73">
            <a:extLst>
              <a:ext uri="{FF2B5EF4-FFF2-40B4-BE49-F238E27FC236}">
                <a16:creationId xmlns:a16="http://schemas.microsoft.com/office/drawing/2014/main" id="{373B5E49-AF14-B0FD-25C8-2E007765F153}"/>
              </a:ext>
            </a:extLst>
          </p:cNvPr>
          <p:cNvCxnSpPr>
            <a:cxnSpLocks/>
            <a:endCxn id="149" idx="1"/>
          </p:cNvCxnSpPr>
          <p:nvPr/>
        </p:nvCxnSpPr>
        <p:spPr>
          <a:xfrm flipV="1">
            <a:off x="2574711" y="3911186"/>
            <a:ext cx="2697001" cy="7311"/>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80" name="Group 179">
            <a:extLst>
              <a:ext uri="{FF2B5EF4-FFF2-40B4-BE49-F238E27FC236}">
                <a16:creationId xmlns:a16="http://schemas.microsoft.com/office/drawing/2014/main" id="{A634A320-4834-12AB-1BD3-6B6A98C0E5A0}"/>
              </a:ext>
            </a:extLst>
          </p:cNvPr>
          <p:cNvGrpSpPr/>
          <p:nvPr/>
        </p:nvGrpSpPr>
        <p:grpSpPr>
          <a:xfrm>
            <a:off x="3666526" y="3713691"/>
            <a:ext cx="1282698" cy="677179"/>
            <a:chOff x="2249745" y="4536825"/>
            <a:chExt cx="1282698" cy="677179"/>
          </a:xfrm>
        </p:grpSpPr>
        <p:sp>
          <p:nvSpPr>
            <p:cNvPr id="73" name="Rounded Rectangle 14">
              <a:extLst>
                <a:ext uri="{FF2B5EF4-FFF2-40B4-BE49-F238E27FC236}">
                  <a16:creationId xmlns:a16="http://schemas.microsoft.com/office/drawing/2014/main" id="{6F853D8A-8F1E-E406-C377-486939E582BE}"/>
                </a:ext>
                <a:ext uri="{C183D7F6-B498-43B3-948B-1728B52AA6E4}">
                  <adec:decorative xmlns:adec="http://schemas.microsoft.com/office/drawing/2017/decorative" val="0"/>
                </a:ext>
              </a:extLst>
            </p:cNvPr>
            <p:cNvSpPr/>
            <p:nvPr/>
          </p:nvSpPr>
          <p:spPr>
            <a:xfrm>
              <a:off x="2249745" y="4906227"/>
              <a:ext cx="1282698"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ExpressRoute/Internet Connectivity</a:t>
              </a:r>
            </a:p>
          </p:txBody>
        </p:sp>
        <p:grpSp>
          <p:nvGrpSpPr>
            <p:cNvPr id="179" name="Group 178">
              <a:extLst>
                <a:ext uri="{FF2B5EF4-FFF2-40B4-BE49-F238E27FC236}">
                  <a16:creationId xmlns:a16="http://schemas.microsoft.com/office/drawing/2014/main" id="{A7FA72E0-2222-6E27-8AC6-294DE1CB3A91}"/>
                </a:ext>
              </a:extLst>
            </p:cNvPr>
            <p:cNvGrpSpPr/>
            <p:nvPr/>
          </p:nvGrpSpPr>
          <p:grpSpPr>
            <a:xfrm>
              <a:off x="2663890" y="4536825"/>
              <a:ext cx="365271" cy="365272"/>
              <a:chOff x="2407219" y="5816239"/>
              <a:chExt cx="365271" cy="365272"/>
            </a:xfrm>
          </p:grpSpPr>
          <p:sp>
            <p:nvSpPr>
              <p:cNvPr id="178" name="Rectangle 177">
                <a:extLst>
                  <a:ext uri="{FF2B5EF4-FFF2-40B4-BE49-F238E27FC236}">
                    <a16:creationId xmlns:a16="http://schemas.microsoft.com/office/drawing/2014/main" id="{708116B3-7CB6-F867-7420-2FC5B21A59B0}"/>
                  </a:ext>
                  <a:ext uri="{C183D7F6-B498-43B3-948B-1728B52AA6E4}">
                    <adec:decorative xmlns:adec="http://schemas.microsoft.com/office/drawing/2017/decorative" val="1"/>
                  </a:ext>
                </a:extLst>
              </p:cNvPr>
              <p:cNvSpPr/>
              <p:nvPr/>
            </p:nvSpPr>
            <p:spPr bwMode="auto">
              <a:xfrm>
                <a:off x="2407219" y="5816240"/>
                <a:ext cx="365271" cy="3652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pic>
            <p:nvPicPr>
              <p:cNvPr id="177" name="Graphic 176">
                <a:extLst>
                  <a:ext uri="{FF2B5EF4-FFF2-40B4-BE49-F238E27FC236}">
                    <a16:creationId xmlns:a16="http://schemas.microsoft.com/office/drawing/2014/main" id="{6DAC5C0E-B988-CFA0-A6E0-C4A80C5DD24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407219" y="5816239"/>
                <a:ext cx="365271" cy="365271"/>
              </a:xfrm>
              <a:prstGeom prst="rect">
                <a:avLst/>
              </a:prstGeom>
            </p:spPr>
          </p:pic>
        </p:grpSp>
      </p:grpSp>
      <p:sp>
        <p:nvSpPr>
          <p:cNvPr id="191" name="Oval 190">
            <a:extLst>
              <a:ext uri="{FF2B5EF4-FFF2-40B4-BE49-F238E27FC236}">
                <a16:creationId xmlns:a16="http://schemas.microsoft.com/office/drawing/2014/main" id="{093E77CB-E8EA-8D3C-BC5A-F66325936F4E}"/>
              </a:ext>
            </a:extLst>
          </p:cNvPr>
          <p:cNvSpPr/>
          <p:nvPr/>
        </p:nvSpPr>
        <p:spPr>
          <a:xfrm>
            <a:off x="2408808" y="959304"/>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1</a:t>
            </a:r>
          </a:p>
        </p:txBody>
      </p:sp>
      <p:sp>
        <p:nvSpPr>
          <p:cNvPr id="192" name="Oval 191">
            <a:extLst>
              <a:ext uri="{FF2B5EF4-FFF2-40B4-BE49-F238E27FC236}">
                <a16:creationId xmlns:a16="http://schemas.microsoft.com/office/drawing/2014/main" id="{67A4E10F-7044-689F-3B25-DF536614DE49}"/>
              </a:ext>
            </a:extLst>
          </p:cNvPr>
          <p:cNvSpPr/>
          <p:nvPr/>
        </p:nvSpPr>
        <p:spPr>
          <a:xfrm>
            <a:off x="305078" y="5569926"/>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1</a:t>
            </a:r>
          </a:p>
        </p:txBody>
      </p:sp>
      <p:sp>
        <p:nvSpPr>
          <p:cNvPr id="193" name="TextBox 192">
            <a:extLst>
              <a:ext uri="{FF2B5EF4-FFF2-40B4-BE49-F238E27FC236}">
                <a16:creationId xmlns:a16="http://schemas.microsoft.com/office/drawing/2014/main" id="{A1F2904E-1A0B-263C-5854-9500822A4C24}"/>
              </a:ext>
            </a:extLst>
          </p:cNvPr>
          <p:cNvSpPr txBox="1"/>
          <p:nvPr/>
        </p:nvSpPr>
        <p:spPr>
          <a:xfrm>
            <a:off x="628075" y="5360270"/>
            <a:ext cx="4276299" cy="1200329"/>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Segoe Sans Text" pitchFamily="2" charset="0"/>
                <a:cs typeface="Segoe Sans Text" pitchFamily="2" charset="0"/>
              </a:rPr>
              <a:t>AD Domain Controller hosts on-prem user &amp; groups</a:t>
            </a:r>
          </a:p>
          <a:p>
            <a:pPr marL="171450" indent="-171450">
              <a:buFont typeface="Arial" panose="020B0604020202020204" pitchFamily="34" charset="0"/>
              <a:buChar char="•"/>
            </a:pPr>
            <a:r>
              <a:rPr lang="en-US" sz="1200">
                <a:latin typeface="Segoe Sans Text" pitchFamily="2" charset="0"/>
                <a:cs typeface="Segoe Sans Text" pitchFamily="2" charset="0"/>
              </a:rPr>
              <a:t>SMB files shares hold source files</a:t>
            </a:r>
          </a:p>
          <a:p>
            <a:pPr marL="171450" indent="-171450">
              <a:buFont typeface="Arial" panose="020B0604020202020204" pitchFamily="34" charset="0"/>
              <a:buChar char="•"/>
            </a:pPr>
            <a:r>
              <a:rPr lang="en-US" sz="1200">
                <a:latin typeface="Segoe Sans Text" pitchFamily="2" charset="0"/>
                <a:cs typeface="Segoe Sans Text" pitchFamily="2" charset="0"/>
              </a:rPr>
              <a:t>Fabric On-prem Gateway provides secure connectivity to on-prem data</a:t>
            </a:r>
          </a:p>
          <a:p>
            <a:pPr marL="171450" indent="-171450">
              <a:buFont typeface="Arial" panose="020B0604020202020204" pitchFamily="34" charset="0"/>
              <a:buChar char="•"/>
            </a:pPr>
            <a:r>
              <a:rPr lang="en-US" sz="1200">
                <a:latin typeface="Segoe Sans Text" pitchFamily="2" charset="0"/>
                <a:cs typeface="Segoe Sans Text" pitchFamily="2" charset="0"/>
              </a:rPr>
              <a:t>On-prem Network Gateway connects the corporate network on to Azure</a:t>
            </a:r>
          </a:p>
        </p:txBody>
      </p:sp>
      <p:sp>
        <p:nvSpPr>
          <p:cNvPr id="194" name="Oval 193">
            <a:extLst>
              <a:ext uri="{FF2B5EF4-FFF2-40B4-BE49-F238E27FC236}">
                <a16:creationId xmlns:a16="http://schemas.microsoft.com/office/drawing/2014/main" id="{391B6847-CCA8-EAE4-F0FE-54F860354DFE}"/>
              </a:ext>
            </a:extLst>
          </p:cNvPr>
          <p:cNvSpPr/>
          <p:nvPr/>
        </p:nvSpPr>
        <p:spPr>
          <a:xfrm>
            <a:off x="3802844" y="1175152"/>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2</a:t>
            </a:r>
          </a:p>
        </p:txBody>
      </p:sp>
      <p:sp>
        <p:nvSpPr>
          <p:cNvPr id="195" name="Oval 194">
            <a:extLst>
              <a:ext uri="{FF2B5EF4-FFF2-40B4-BE49-F238E27FC236}">
                <a16:creationId xmlns:a16="http://schemas.microsoft.com/office/drawing/2014/main" id="{29CFE56A-25A8-C458-EA37-8575556C1D9E}"/>
              </a:ext>
            </a:extLst>
          </p:cNvPr>
          <p:cNvSpPr/>
          <p:nvPr/>
        </p:nvSpPr>
        <p:spPr>
          <a:xfrm>
            <a:off x="4882204" y="5197110"/>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2</a:t>
            </a:r>
          </a:p>
        </p:txBody>
      </p:sp>
      <p:sp>
        <p:nvSpPr>
          <p:cNvPr id="196" name="TextBox 195">
            <a:extLst>
              <a:ext uri="{FF2B5EF4-FFF2-40B4-BE49-F238E27FC236}">
                <a16:creationId xmlns:a16="http://schemas.microsoft.com/office/drawing/2014/main" id="{FB01251B-9BA1-CF2C-E62E-F99996A6C5BD}"/>
              </a:ext>
            </a:extLst>
          </p:cNvPr>
          <p:cNvSpPr txBox="1"/>
          <p:nvPr/>
        </p:nvSpPr>
        <p:spPr>
          <a:xfrm>
            <a:off x="5227371" y="4977041"/>
            <a:ext cx="6615905" cy="830997"/>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Segoe Sans Text" pitchFamily="2" charset="0"/>
                <a:cs typeface="Segoe Sans Text" pitchFamily="2" charset="0"/>
              </a:rPr>
              <a:t>AD Domain Controller syncs on-prem identities to Microsoft Entra via Entra Connect Sync.</a:t>
            </a:r>
          </a:p>
          <a:p>
            <a:pPr marL="171450" indent="-171450">
              <a:buFont typeface="Arial" panose="020B0604020202020204" pitchFamily="34" charset="0"/>
              <a:buChar char="•"/>
            </a:pPr>
            <a:r>
              <a:rPr lang="en-US" sz="1200">
                <a:latin typeface="Segoe Sans Text" pitchFamily="2" charset="0"/>
                <a:cs typeface="Segoe Sans Text" pitchFamily="2" charset="0"/>
              </a:rPr>
              <a:t>Sync process creates matching identities in Entra for users and groups.</a:t>
            </a:r>
          </a:p>
          <a:p>
            <a:pPr marL="171450" indent="-171450">
              <a:buFont typeface="Arial" panose="020B0604020202020204" pitchFamily="34" charset="0"/>
              <a:buChar char="•"/>
            </a:pPr>
            <a:r>
              <a:rPr lang="en-US" sz="1200">
                <a:latin typeface="Segoe Sans Text" pitchFamily="2" charset="0"/>
                <a:cs typeface="Segoe Sans Text" pitchFamily="2" charset="0"/>
              </a:rPr>
              <a:t>Entra users and groups are used by Fabric and OneLake for authentication and authorization.</a:t>
            </a:r>
          </a:p>
          <a:p>
            <a:pPr marL="171450" indent="-171450">
              <a:buFont typeface="Arial" panose="020B0604020202020204" pitchFamily="34" charset="0"/>
              <a:buChar char="•"/>
            </a:pPr>
            <a:r>
              <a:rPr lang="en-US" sz="1200">
                <a:latin typeface="Segoe Sans Text" pitchFamily="2" charset="0"/>
                <a:cs typeface="Segoe Sans Text" pitchFamily="2" charset="0"/>
              </a:rPr>
              <a:t>Access control is aligned between on-prem and cloud resources.</a:t>
            </a:r>
          </a:p>
        </p:txBody>
      </p:sp>
      <p:sp>
        <p:nvSpPr>
          <p:cNvPr id="197" name="Oval 196">
            <a:extLst>
              <a:ext uri="{FF2B5EF4-FFF2-40B4-BE49-F238E27FC236}">
                <a16:creationId xmlns:a16="http://schemas.microsoft.com/office/drawing/2014/main" id="{BDD113A2-D194-E12B-B3CA-DDE9DD428B71}"/>
              </a:ext>
            </a:extLst>
          </p:cNvPr>
          <p:cNvSpPr/>
          <p:nvPr/>
        </p:nvSpPr>
        <p:spPr>
          <a:xfrm>
            <a:off x="8069344" y="1426770"/>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3</a:t>
            </a:r>
          </a:p>
        </p:txBody>
      </p:sp>
      <p:sp>
        <p:nvSpPr>
          <p:cNvPr id="198" name="Oval 197">
            <a:extLst>
              <a:ext uri="{FF2B5EF4-FFF2-40B4-BE49-F238E27FC236}">
                <a16:creationId xmlns:a16="http://schemas.microsoft.com/office/drawing/2014/main" id="{4A341754-8A8B-12A1-E3C4-38244C8C6C6C}"/>
              </a:ext>
            </a:extLst>
          </p:cNvPr>
          <p:cNvSpPr/>
          <p:nvPr/>
        </p:nvSpPr>
        <p:spPr>
          <a:xfrm>
            <a:off x="4904374" y="6166785"/>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3</a:t>
            </a:r>
          </a:p>
        </p:txBody>
      </p:sp>
      <p:sp>
        <p:nvSpPr>
          <p:cNvPr id="199" name="TextBox 198">
            <a:extLst>
              <a:ext uri="{FF2B5EF4-FFF2-40B4-BE49-F238E27FC236}">
                <a16:creationId xmlns:a16="http://schemas.microsoft.com/office/drawing/2014/main" id="{5217BD51-45EE-DD06-0AEB-A9DC9F9EFCFB}"/>
              </a:ext>
            </a:extLst>
          </p:cNvPr>
          <p:cNvSpPr txBox="1"/>
          <p:nvPr/>
        </p:nvSpPr>
        <p:spPr>
          <a:xfrm>
            <a:off x="5187946" y="6110472"/>
            <a:ext cx="6615905" cy="461665"/>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Segoe Sans Text" pitchFamily="2" charset="0"/>
                <a:cs typeface="Segoe Sans Text" pitchFamily="2" charset="0"/>
              </a:rPr>
              <a:t>Leverage gateway to ingest files into Lakehouse</a:t>
            </a:r>
          </a:p>
          <a:p>
            <a:pPr marL="171450" indent="-171450">
              <a:buFont typeface="Arial" panose="020B0604020202020204" pitchFamily="34" charset="0"/>
              <a:buChar char="•"/>
            </a:pPr>
            <a:r>
              <a:rPr lang="en-US" sz="1200">
                <a:latin typeface="Segoe Sans Text" pitchFamily="2" charset="0"/>
                <a:cs typeface="Segoe Sans Text" pitchFamily="2" charset="0"/>
              </a:rPr>
              <a:t>Apply OneLake security for files ingested</a:t>
            </a:r>
          </a:p>
        </p:txBody>
      </p:sp>
      <p:pic>
        <p:nvPicPr>
          <p:cNvPr id="4" name="Graphic 3">
            <a:extLst>
              <a:ext uri="{FF2B5EF4-FFF2-40B4-BE49-F238E27FC236}">
                <a16:creationId xmlns:a16="http://schemas.microsoft.com/office/drawing/2014/main" id="{C8E1CD68-A0DB-A29A-9EDC-47E55A9F9FA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65167" y="2798237"/>
            <a:ext cx="398594" cy="480357"/>
          </a:xfrm>
          <a:prstGeom prst="rect">
            <a:avLst/>
          </a:prstGeom>
        </p:spPr>
      </p:pic>
      <p:sp>
        <p:nvSpPr>
          <p:cNvPr id="33" name="Graphic 8">
            <a:extLst>
              <a:ext uri="{FF2B5EF4-FFF2-40B4-BE49-F238E27FC236}">
                <a16:creationId xmlns:a16="http://schemas.microsoft.com/office/drawing/2014/main" id="{D8237360-2D3C-97DB-FF4E-015A081EB448}"/>
              </a:ext>
            </a:extLst>
          </p:cNvPr>
          <p:cNvSpPr/>
          <p:nvPr/>
        </p:nvSpPr>
        <p:spPr>
          <a:xfrm>
            <a:off x="8923750" y="2886768"/>
            <a:ext cx="315857" cy="278698"/>
          </a:xfrm>
          <a:custGeom>
            <a:avLst/>
            <a:gdLst>
              <a:gd name="csX0" fmla="*/ 46450 w 315857"/>
              <a:gd name="csY0" fmla="*/ 1 h 278698"/>
              <a:gd name="csX1" fmla="*/ 0 w 315857"/>
              <a:gd name="csY1" fmla="*/ 46451 h 278698"/>
              <a:gd name="csX2" fmla="*/ 0 w 315857"/>
              <a:gd name="csY2" fmla="*/ 213669 h 278698"/>
              <a:gd name="csX3" fmla="*/ 46450 w 315857"/>
              <a:gd name="csY3" fmla="*/ 260119 h 278698"/>
              <a:gd name="csX4" fmla="*/ 136376 w 315857"/>
              <a:gd name="csY4" fmla="*/ 260119 h 278698"/>
              <a:gd name="csX5" fmla="*/ 130802 w 315857"/>
              <a:gd name="csY5" fmla="*/ 241539 h 278698"/>
              <a:gd name="csX6" fmla="*/ 46450 w 315857"/>
              <a:gd name="csY6" fmla="*/ 241539 h 278698"/>
              <a:gd name="csX7" fmla="*/ 18580 w 315857"/>
              <a:gd name="csY7" fmla="*/ 213669 h 278698"/>
              <a:gd name="csX8" fmla="*/ 18580 w 315857"/>
              <a:gd name="csY8" fmla="*/ 92900 h 278698"/>
              <a:gd name="csX9" fmla="*/ 94571 w 315857"/>
              <a:gd name="csY9" fmla="*/ 92900 h 278698"/>
              <a:gd name="csX10" fmla="*/ 114266 w 315857"/>
              <a:gd name="csY10" fmla="*/ 84725 h 278698"/>
              <a:gd name="csX11" fmla="*/ 143065 w 315857"/>
              <a:gd name="csY11" fmla="*/ 55741 h 278698"/>
              <a:gd name="csX12" fmla="*/ 250642 w 315857"/>
              <a:gd name="csY12" fmla="*/ 55741 h 278698"/>
              <a:gd name="csX13" fmla="*/ 278512 w 315857"/>
              <a:gd name="csY13" fmla="*/ 83611 h 278698"/>
              <a:gd name="csX14" fmla="*/ 278512 w 315857"/>
              <a:gd name="csY14" fmla="*/ 167963 h 278698"/>
              <a:gd name="csX15" fmla="*/ 297092 w 315857"/>
              <a:gd name="csY15" fmla="*/ 173537 h 278698"/>
              <a:gd name="csX16" fmla="*/ 297092 w 315857"/>
              <a:gd name="csY16" fmla="*/ 83611 h 278698"/>
              <a:gd name="csX17" fmla="*/ 250828 w 315857"/>
              <a:gd name="csY17" fmla="*/ 37161 h 278698"/>
              <a:gd name="csX18" fmla="*/ 143065 w 315857"/>
              <a:gd name="csY18" fmla="*/ 37161 h 278698"/>
              <a:gd name="csX19" fmla="*/ 115752 w 315857"/>
              <a:gd name="csY19" fmla="*/ 9477 h 278698"/>
              <a:gd name="csX20" fmla="*/ 92528 w 315857"/>
              <a:gd name="csY20" fmla="*/ 1 h 278698"/>
              <a:gd name="csX21" fmla="*/ 46450 w 315857"/>
              <a:gd name="csY21" fmla="*/ 1 h 278698"/>
              <a:gd name="csX22" fmla="*/ 18580 w 315857"/>
              <a:gd name="csY22" fmla="*/ 46451 h 278698"/>
              <a:gd name="csX23" fmla="*/ 46450 w 315857"/>
              <a:gd name="csY23" fmla="*/ 18581 h 278698"/>
              <a:gd name="csX24" fmla="*/ 92528 w 315857"/>
              <a:gd name="csY24" fmla="*/ 18581 h 278698"/>
              <a:gd name="csX25" fmla="*/ 102375 w 315857"/>
              <a:gd name="csY25" fmla="*/ 22669 h 278698"/>
              <a:gd name="csX26" fmla="*/ 126343 w 315857"/>
              <a:gd name="csY26" fmla="*/ 46451 h 278698"/>
              <a:gd name="csX27" fmla="*/ 101074 w 315857"/>
              <a:gd name="csY27" fmla="*/ 71534 h 278698"/>
              <a:gd name="csX28" fmla="*/ 94571 w 315857"/>
              <a:gd name="csY28" fmla="*/ 74321 h 278698"/>
              <a:gd name="csX29" fmla="*/ 18580 w 315857"/>
              <a:gd name="csY29" fmla="*/ 74321 h 278698"/>
              <a:gd name="csX30" fmla="*/ 18580 w 315857"/>
              <a:gd name="csY30" fmla="*/ 46451 h 278698"/>
              <a:gd name="csX31" fmla="*/ 195088 w 315857"/>
              <a:gd name="csY31" fmla="*/ 185800 h 278698"/>
              <a:gd name="csX32" fmla="*/ 148639 w 315857"/>
              <a:gd name="csY32" fmla="*/ 232249 h 278698"/>
              <a:gd name="csX33" fmla="*/ 195088 w 315857"/>
              <a:gd name="csY33" fmla="*/ 278699 h 278698"/>
              <a:gd name="csX34" fmla="*/ 204378 w 315857"/>
              <a:gd name="csY34" fmla="*/ 278699 h 278698"/>
              <a:gd name="csX35" fmla="*/ 213668 w 315857"/>
              <a:gd name="csY35" fmla="*/ 269409 h 278698"/>
              <a:gd name="csX36" fmla="*/ 204378 w 315857"/>
              <a:gd name="csY36" fmla="*/ 260119 h 278698"/>
              <a:gd name="csX37" fmla="*/ 195088 w 315857"/>
              <a:gd name="csY37" fmla="*/ 260119 h 278698"/>
              <a:gd name="csX38" fmla="*/ 167219 w 315857"/>
              <a:gd name="csY38" fmla="*/ 232249 h 278698"/>
              <a:gd name="csX39" fmla="*/ 195088 w 315857"/>
              <a:gd name="csY39" fmla="*/ 204380 h 278698"/>
              <a:gd name="csX40" fmla="*/ 204378 w 315857"/>
              <a:gd name="csY40" fmla="*/ 204380 h 278698"/>
              <a:gd name="csX41" fmla="*/ 213668 w 315857"/>
              <a:gd name="csY41" fmla="*/ 195090 h 278698"/>
              <a:gd name="csX42" fmla="*/ 204378 w 315857"/>
              <a:gd name="csY42" fmla="*/ 185800 h 278698"/>
              <a:gd name="csX43" fmla="*/ 195088 w 315857"/>
              <a:gd name="csY43" fmla="*/ 185800 h 278698"/>
              <a:gd name="csX44" fmla="*/ 260118 w 315857"/>
              <a:gd name="csY44" fmla="*/ 185800 h 278698"/>
              <a:gd name="csX45" fmla="*/ 250828 w 315857"/>
              <a:gd name="csY45" fmla="*/ 195090 h 278698"/>
              <a:gd name="csX46" fmla="*/ 260118 w 315857"/>
              <a:gd name="csY46" fmla="*/ 204380 h 278698"/>
              <a:gd name="csX47" fmla="*/ 269408 w 315857"/>
              <a:gd name="csY47" fmla="*/ 204380 h 278698"/>
              <a:gd name="csX48" fmla="*/ 297278 w 315857"/>
              <a:gd name="csY48" fmla="*/ 232249 h 278698"/>
              <a:gd name="csX49" fmla="*/ 269408 w 315857"/>
              <a:gd name="csY49" fmla="*/ 260119 h 278698"/>
              <a:gd name="csX50" fmla="*/ 260118 w 315857"/>
              <a:gd name="csY50" fmla="*/ 260119 h 278698"/>
              <a:gd name="csX51" fmla="*/ 250828 w 315857"/>
              <a:gd name="csY51" fmla="*/ 269409 h 278698"/>
              <a:gd name="csX52" fmla="*/ 260118 w 315857"/>
              <a:gd name="csY52" fmla="*/ 278699 h 278698"/>
              <a:gd name="csX53" fmla="*/ 269408 w 315857"/>
              <a:gd name="csY53" fmla="*/ 278699 h 278698"/>
              <a:gd name="csX54" fmla="*/ 315857 w 315857"/>
              <a:gd name="csY54" fmla="*/ 232249 h 278698"/>
              <a:gd name="csX55" fmla="*/ 269408 w 315857"/>
              <a:gd name="csY55" fmla="*/ 185800 h 278698"/>
              <a:gd name="csX56" fmla="*/ 260118 w 315857"/>
              <a:gd name="csY56" fmla="*/ 185800 h 278698"/>
              <a:gd name="csX57" fmla="*/ 185799 w 315857"/>
              <a:gd name="csY57" fmla="*/ 232249 h 278698"/>
              <a:gd name="csX58" fmla="*/ 195088 w 315857"/>
              <a:gd name="csY58" fmla="*/ 222959 h 278698"/>
              <a:gd name="csX59" fmla="*/ 269408 w 315857"/>
              <a:gd name="csY59" fmla="*/ 222959 h 278698"/>
              <a:gd name="csX60" fmla="*/ 278698 w 315857"/>
              <a:gd name="csY60" fmla="*/ 232249 h 278698"/>
              <a:gd name="csX61" fmla="*/ 269408 w 315857"/>
              <a:gd name="csY61" fmla="*/ 241539 h 278698"/>
              <a:gd name="csX62" fmla="*/ 195088 w 315857"/>
              <a:gd name="csY62" fmla="*/ 241539 h 278698"/>
              <a:gd name="csX63" fmla="*/ 185799 w 315857"/>
              <a:gd name="csY63" fmla="*/ 232249 h 278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315857" h="278698">
                <a:moveTo>
                  <a:pt x="46450" y="1"/>
                </a:moveTo>
                <a:cubicBezTo>
                  <a:pt x="20796" y="1"/>
                  <a:pt x="0" y="20797"/>
                  <a:pt x="0" y="46451"/>
                </a:cubicBezTo>
                <a:lnTo>
                  <a:pt x="0" y="213669"/>
                </a:lnTo>
                <a:cubicBezTo>
                  <a:pt x="0" y="239323"/>
                  <a:pt x="20796" y="260119"/>
                  <a:pt x="46450" y="260119"/>
                </a:cubicBezTo>
                <a:lnTo>
                  <a:pt x="136376" y="260119"/>
                </a:lnTo>
                <a:cubicBezTo>
                  <a:pt x="133594" y="254240"/>
                  <a:pt x="131715" y="247977"/>
                  <a:pt x="130802" y="241539"/>
                </a:cubicBezTo>
                <a:lnTo>
                  <a:pt x="46450" y="241539"/>
                </a:lnTo>
                <a:cubicBezTo>
                  <a:pt x="31058" y="241539"/>
                  <a:pt x="18580" y="229061"/>
                  <a:pt x="18580" y="213669"/>
                </a:cubicBezTo>
                <a:lnTo>
                  <a:pt x="18580" y="92900"/>
                </a:lnTo>
                <a:lnTo>
                  <a:pt x="94571" y="92900"/>
                </a:lnTo>
                <a:cubicBezTo>
                  <a:pt x="102003" y="92900"/>
                  <a:pt x="109064" y="89928"/>
                  <a:pt x="114266" y="84725"/>
                </a:cubicBezTo>
                <a:lnTo>
                  <a:pt x="143065" y="55741"/>
                </a:lnTo>
                <a:lnTo>
                  <a:pt x="250642" y="55741"/>
                </a:lnTo>
                <a:cubicBezTo>
                  <a:pt x="266063" y="55741"/>
                  <a:pt x="278512" y="68189"/>
                  <a:pt x="278512" y="83611"/>
                </a:cubicBezTo>
                <a:lnTo>
                  <a:pt x="278512" y="167963"/>
                </a:lnTo>
                <a:cubicBezTo>
                  <a:pt x="285015" y="168892"/>
                  <a:pt x="291332" y="170750"/>
                  <a:pt x="297092" y="173537"/>
                </a:cubicBezTo>
                <a:lnTo>
                  <a:pt x="297092" y="83611"/>
                </a:lnTo>
                <a:cubicBezTo>
                  <a:pt x="297092" y="58029"/>
                  <a:pt x="276409" y="37263"/>
                  <a:pt x="250828" y="37161"/>
                </a:cubicBezTo>
                <a:lnTo>
                  <a:pt x="143065" y="37161"/>
                </a:lnTo>
                <a:lnTo>
                  <a:pt x="115752" y="9477"/>
                </a:lnTo>
                <a:cubicBezTo>
                  <a:pt x="109590" y="3339"/>
                  <a:pt x="101225" y="-74"/>
                  <a:pt x="92528" y="1"/>
                </a:cubicBezTo>
                <a:lnTo>
                  <a:pt x="46450" y="1"/>
                </a:lnTo>
                <a:close/>
                <a:moveTo>
                  <a:pt x="18580" y="46451"/>
                </a:moveTo>
                <a:cubicBezTo>
                  <a:pt x="18580" y="31030"/>
                  <a:pt x="31028" y="18581"/>
                  <a:pt x="46450" y="18581"/>
                </a:cubicBezTo>
                <a:lnTo>
                  <a:pt x="92528" y="18581"/>
                </a:lnTo>
                <a:cubicBezTo>
                  <a:pt x="96244" y="18581"/>
                  <a:pt x="99960" y="20067"/>
                  <a:pt x="102375" y="22669"/>
                </a:cubicBezTo>
                <a:lnTo>
                  <a:pt x="126343" y="46451"/>
                </a:lnTo>
                <a:lnTo>
                  <a:pt x="101074" y="71534"/>
                </a:lnTo>
                <a:cubicBezTo>
                  <a:pt x="99359" y="73284"/>
                  <a:pt x="97022" y="74286"/>
                  <a:pt x="94571" y="74321"/>
                </a:cubicBezTo>
                <a:lnTo>
                  <a:pt x="18580" y="74321"/>
                </a:lnTo>
                <a:lnTo>
                  <a:pt x="18580" y="46451"/>
                </a:lnTo>
                <a:close/>
                <a:moveTo>
                  <a:pt x="195088" y="185800"/>
                </a:moveTo>
                <a:cubicBezTo>
                  <a:pt x="169435" y="185800"/>
                  <a:pt x="148639" y="206596"/>
                  <a:pt x="148639" y="232249"/>
                </a:cubicBezTo>
                <a:cubicBezTo>
                  <a:pt x="148639" y="257903"/>
                  <a:pt x="169435" y="278699"/>
                  <a:pt x="195088" y="278699"/>
                </a:cubicBezTo>
                <a:lnTo>
                  <a:pt x="204378" y="278699"/>
                </a:lnTo>
                <a:cubicBezTo>
                  <a:pt x="209508" y="278699"/>
                  <a:pt x="213668" y="274539"/>
                  <a:pt x="213668" y="269409"/>
                </a:cubicBezTo>
                <a:cubicBezTo>
                  <a:pt x="213668" y="264279"/>
                  <a:pt x="209508" y="260119"/>
                  <a:pt x="204378" y="260119"/>
                </a:cubicBezTo>
                <a:lnTo>
                  <a:pt x="195088" y="260119"/>
                </a:lnTo>
                <a:cubicBezTo>
                  <a:pt x="179697" y="260119"/>
                  <a:pt x="167219" y="247641"/>
                  <a:pt x="167219" y="232249"/>
                </a:cubicBezTo>
                <a:cubicBezTo>
                  <a:pt x="167219" y="216858"/>
                  <a:pt x="179697" y="204380"/>
                  <a:pt x="195088" y="204380"/>
                </a:cubicBezTo>
                <a:lnTo>
                  <a:pt x="204378" y="204380"/>
                </a:lnTo>
                <a:cubicBezTo>
                  <a:pt x="209508" y="204380"/>
                  <a:pt x="213668" y="200220"/>
                  <a:pt x="213668" y="195090"/>
                </a:cubicBezTo>
                <a:cubicBezTo>
                  <a:pt x="213668" y="189960"/>
                  <a:pt x="209508" y="185800"/>
                  <a:pt x="204378" y="185800"/>
                </a:cubicBezTo>
                <a:lnTo>
                  <a:pt x="195088" y="185800"/>
                </a:lnTo>
                <a:close/>
                <a:moveTo>
                  <a:pt x="260118" y="185800"/>
                </a:moveTo>
                <a:cubicBezTo>
                  <a:pt x="254988" y="185800"/>
                  <a:pt x="250828" y="189960"/>
                  <a:pt x="250828" y="195090"/>
                </a:cubicBezTo>
                <a:cubicBezTo>
                  <a:pt x="250828" y="200220"/>
                  <a:pt x="254988" y="204380"/>
                  <a:pt x="260118" y="204380"/>
                </a:cubicBezTo>
                <a:lnTo>
                  <a:pt x="269408" y="204380"/>
                </a:lnTo>
                <a:cubicBezTo>
                  <a:pt x="284799" y="204380"/>
                  <a:pt x="297278" y="216858"/>
                  <a:pt x="297278" y="232249"/>
                </a:cubicBezTo>
                <a:cubicBezTo>
                  <a:pt x="297278" y="247641"/>
                  <a:pt x="284799" y="260119"/>
                  <a:pt x="269408" y="260119"/>
                </a:cubicBezTo>
                <a:lnTo>
                  <a:pt x="260118" y="260119"/>
                </a:lnTo>
                <a:cubicBezTo>
                  <a:pt x="254988" y="260119"/>
                  <a:pt x="250828" y="264279"/>
                  <a:pt x="250828" y="269409"/>
                </a:cubicBezTo>
                <a:cubicBezTo>
                  <a:pt x="250828" y="274539"/>
                  <a:pt x="254988" y="278699"/>
                  <a:pt x="260118" y="278699"/>
                </a:cubicBezTo>
                <a:lnTo>
                  <a:pt x="269408" y="278699"/>
                </a:lnTo>
                <a:cubicBezTo>
                  <a:pt x="295061" y="278699"/>
                  <a:pt x="315857" y="257903"/>
                  <a:pt x="315857" y="232249"/>
                </a:cubicBezTo>
                <a:cubicBezTo>
                  <a:pt x="315857" y="206596"/>
                  <a:pt x="295061" y="185800"/>
                  <a:pt x="269408" y="185800"/>
                </a:cubicBezTo>
                <a:lnTo>
                  <a:pt x="260118" y="185800"/>
                </a:lnTo>
                <a:close/>
                <a:moveTo>
                  <a:pt x="185799" y="232249"/>
                </a:moveTo>
                <a:cubicBezTo>
                  <a:pt x="185799" y="227047"/>
                  <a:pt x="189886" y="222959"/>
                  <a:pt x="195088" y="222959"/>
                </a:cubicBezTo>
                <a:lnTo>
                  <a:pt x="269408" y="222959"/>
                </a:lnTo>
                <a:cubicBezTo>
                  <a:pt x="274538" y="222959"/>
                  <a:pt x="278698" y="227119"/>
                  <a:pt x="278698" y="232249"/>
                </a:cubicBezTo>
                <a:cubicBezTo>
                  <a:pt x="278698" y="237379"/>
                  <a:pt x="274538" y="241539"/>
                  <a:pt x="269408" y="241539"/>
                </a:cubicBezTo>
                <a:lnTo>
                  <a:pt x="195088" y="241539"/>
                </a:lnTo>
                <a:cubicBezTo>
                  <a:pt x="189959" y="241539"/>
                  <a:pt x="185799" y="237379"/>
                  <a:pt x="185799" y="232249"/>
                </a:cubicBezTo>
                <a:close/>
              </a:path>
            </a:pathLst>
          </a:custGeom>
          <a:solidFill>
            <a:schemeClr val="tx2">
              <a:lumMod val="85000"/>
              <a:lumOff val="15000"/>
            </a:schemeClr>
          </a:solidFill>
          <a:ln w="18574" cap="flat">
            <a:noFill/>
            <a:prstDash val="solid"/>
            <a:miter/>
          </a:ln>
        </p:spPr>
        <p:txBody>
          <a:bodyPr/>
          <a:lstStyle/>
          <a:p>
            <a:endParaRPr lang="en-US"/>
          </a:p>
        </p:txBody>
      </p:sp>
      <p:sp>
        <p:nvSpPr>
          <p:cNvPr id="25" name="Rectangle: Rounded Corners 24">
            <a:extLst>
              <a:ext uri="{FF2B5EF4-FFF2-40B4-BE49-F238E27FC236}">
                <a16:creationId xmlns:a16="http://schemas.microsoft.com/office/drawing/2014/main" id="{B786DA12-BAA2-FC93-E14E-EBF83F1834AF}"/>
              </a:ext>
            </a:extLst>
          </p:cNvPr>
          <p:cNvSpPr/>
          <p:nvPr/>
        </p:nvSpPr>
        <p:spPr bwMode="auto">
          <a:xfrm>
            <a:off x="8583089" y="2581750"/>
            <a:ext cx="1875361" cy="969524"/>
          </a:xfrm>
          <a:prstGeom prst="roundRect">
            <a:avLst>
              <a:gd name="adj" fmla="val 5663"/>
            </a:avLst>
          </a:prstGeom>
          <a:solidFill>
            <a:srgbClr val="FFF8F5">
              <a:alpha val="0"/>
            </a:srgbClr>
          </a:solidFill>
          <a:ln>
            <a:solidFill>
              <a:schemeClr val="tx2">
                <a:lumMod val="85000"/>
                <a:lumOff val="1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cxnSp>
        <p:nvCxnSpPr>
          <p:cNvPr id="26" name="Straight Arrow Connector 25">
            <a:extLst>
              <a:ext uri="{FF2B5EF4-FFF2-40B4-BE49-F238E27FC236}">
                <a16:creationId xmlns:a16="http://schemas.microsoft.com/office/drawing/2014/main" id="{2661E0DB-7906-F327-0CC2-B17A0C0C85D9}"/>
              </a:ext>
            </a:extLst>
          </p:cNvPr>
          <p:cNvCxnSpPr>
            <a:cxnSpLocks/>
          </p:cNvCxnSpPr>
          <p:nvPr/>
        </p:nvCxnSpPr>
        <p:spPr>
          <a:xfrm>
            <a:off x="6644879" y="3909930"/>
            <a:ext cx="1322315" cy="0"/>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cxnSp>
        <p:nvCxnSpPr>
          <p:cNvPr id="28" name="Straight Arrow Connector 27">
            <a:extLst>
              <a:ext uri="{FF2B5EF4-FFF2-40B4-BE49-F238E27FC236}">
                <a16:creationId xmlns:a16="http://schemas.microsoft.com/office/drawing/2014/main" id="{2EAA6129-5C5E-E519-D85C-D1A7A8B74AF6}"/>
              </a:ext>
            </a:extLst>
          </p:cNvPr>
          <p:cNvCxnSpPr>
            <a:cxnSpLocks/>
            <a:stCxn id="4" idx="3"/>
          </p:cNvCxnSpPr>
          <p:nvPr/>
        </p:nvCxnSpPr>
        <p:spPr>
          <a:xfrm flipV="1">
            <a:off x="2063761" y="2996204"/>
            <a:ext cx="6834901" cy="42212"/>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sp>
        <p:nvSpPr>
          <p:cNvPr id="37" name="Rounded Rectangle 14">
            <a:extLst>
              <a:ext uri="{FF2B5EF4-FFF2-40B4-BE49-F238E27FC236}">
                <a16:creationId xmlns:a16="http://schemas.microsoft.com/office/drawing/2014/main" id="{AB1FBDCF-D113-9821-B3A3-7392A036DF50}"/>
              </a:ext>
              <a:ext uri="{C183D7F6-B498-43B3-948B-1728B52AA6E4}">
                <adec:decorative xmlns:adec="http://schemas.microsoft.com/office/drawing/2017/decorative" val="0"/>
              </a:ext>
            </a:extLst>
          </p:cNvPr>
          <p:cNvSpPr/>
          <p:nvPr/>
        </p:nvSpPr>
        <p:spPr>
          <a:xfrm>
            <a:off x="5105126" y="2860862"/>
            <a:ext cx="904089" cy="307777"/>
          </a:xfrm>
          <a:prstGeom prst="rect">
            <a:avLst/>
          </a:prstGeom>
          <a:solidFill>
            <a:schemeClr val="bg1"/>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Zero ETL In-place Access</a:t>
            </a:r>
          </a:p>
        </p:txBody>
      </p:sp>
    </p:spTree>
    <p:extLst>
      <p:ext uri="{BB962C8B-B14F-4D97-AF65-F5344CB8AC3E}">
        <p14:creationId xmlns:p14="http://schemas.microsoft.com/office/powerpoint/2010/main" val="39394026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a:t>ETL To Fabric OneLake</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5217" y="1438275"/>
            <a:ext cx="3264408" cy="338554"/>
          </a:xfrm>
        </p:spPr>
        <p:txBody>
          <a:bodyPr/>
          <a:lstStyle/>
          <a:p>
            <a:r>
              <a:rPr lang="en-US">
                <a:solidFill>
                  <a:schemeClr val="accent2"/>
                </a:solidFill>
              </a:rPr>
              <a:t>Networking &amp; Security</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5217" y="2137914"/>
            <a:ext cx="3264408" cy="3841052"/>
          </a:xfrm>
        </p:spPr>
        <p:txBody>
          <a:bodyPr/>
          <a:lstStyle/>
          <a:p>
            <a:r>
              <a:rPr lang="en-US" sz="1600"/>
              <a:t>On-prem Network Gateway establishes connectivity to Azure via ExpressRoute or secure Internet VPN.</a:t>
            </a:r>
          </a:p>
          <a:p>
            <a:r>
              <a:rPr lang="en-US" sz="1600"/>
              <a:t>Azure Network Gateway terminates the connection inside an Azure Virtual Network.</a:t>
            </a:r>
          </a:p>
          <a:p>
            <a:r>
              <a:rPr lang="en-US" sz="1600"/>
              <a:t>Hybrid link is used by the Fabric On-prem Gateway to securely expose S3 Compatible Endpoint to Fabric services using </a:t>
            </a:r>
            <a:r>
              <a:rPr lang="en-US" sz="1600" err="1">
                <a:hlinkClick r:id="rId3"/>
              </a:rPr>
              <a:t>OneLake</a:t>
            </a:r>
            <a:r>
              <a:rPr lang="en-US" sz="1600">
                <a:hlinkClick r:id="rId3"/>
              </a:rPr>
              <a:t> Shortcuts</a:t>
            </a:r>
            <a:r>
              <a:rPr lang="en-US" sz="1600"/>
              <a:t>.</a:t>
            </a:r>
          </a:p>
          <a:p>
            <a:r>
              <a:rPr lang="en-US" sz="1600"/>
              <a:t>All data traffic between on-prem and Azure is encrypted and controlled.</a:t>
            </a:r>
          </a:p>
        </p:txBody>
      </p:sp>
      <p:sp>
        <p:nvSpPr>
          <p:cNvPr id="7" name="Text Placeholder 6">
            <a:extLst>
              <a:ext uri="{FF2B5EF4-FFF2-40B4-BE49-F238E27FC236}">
                <a16:creationId xmlns:a16="http://schemas.microsoft.com/office/drawing/2014/main" id="{72586467-7936-4E76-9180-189FF966B546}"/>
              </a:ext>
            </a:extLst>
          </p:cNvPr>
          <p:cNvSpPr>
            <a:spLocks noGrp="1"/>
          </p:cNvSpPr>
          <p:nvPr>
            <p:ph type="body" sz="quarter" idx="17"/>
          </p:nvPr>
        </p:nvSpPr>
        <p:spPr>
          <a:xfrm>
            <a:off x="4227196" y="1438275"/>
            <a:ext cx="3264408" cy="338554"/>
          </a:xfrm>
        </p:spPr>
        <p:txBody>
          <a:bodyPr/>
          <a:lstStyle/>
          <a:p>
            <a:r>
              <a:rPr lang="en-US">
                <a:solidFill>
                  <a:schemeClr val="accent2"/>
                </a:solidFill>
              </a:rPr>
              <a:t>Data Ingestion</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5"/>
          </p:nvPr>
        </p:nvSpPr>
        <p:spPr>
          <a:xfrm>
            <a:off x="4227196" y="2137914"/>
            <a:ext cx="3264408" cy="3545586"/>
          </a:xfrm>
        </p:spPr>
        <p:txBody>
          <a:bodyPr/>
          <a:lstStyle/>
          <a:p>
            <a:r>
              <a:rPr lang="en-US" sz="1600"/>
              <a:t>Microsoft Fabric is deployed in Azure with </a:t>
            </a:r>
            <a:r>
              <a:rPr lang="en-US" sz="1600" err="1"/>
              <a:t>OneLake</a:t>
            </a:r>
            <a:r>
              <a:rPr lang="en-US" sz="1600"/>
              <a:t> as the unified data lake.</a:t>
            </a:r>
          </a:p>
          <a:p>
            <a:r>
              <a:rPr lang="en-US" sz="1600"/>
              <a:t>Fabric Short cuts connects to the S3-Compatible Endpoint the On-prem Gateway to make the files available for Fabric Services.</a:t>
            </a:r>
          </a:p>
          <a:p>
            <a:r>
              <a:rPr lang="en-US" sz="1600"/>
              <a:t>With shortcuts, files stay in place and can be queried using Fabric services like Fabric Spark Notebooks. (There could be read latency depending on the network bandwidth and IOPs limitations on the S3-compatible endpoints)</a:t>
            </a:r>
          </a:p>
        </p:txBody>
      </p:sp>
      <p:sp>
        <p:nvSpPr>
          <p:cNvPr id="14" name="Text Placeholder 13">
            <a:extLst>
              <a:ext uri="{FF2B5EF4-FFF2-40B4-BE49-F238E27FC236}">
                <a16:creationId xmlns:a16="http://schemas.microsoft.com/office/drawing/2014/main" id="{12F57858-903C-46A9-9906-73E81D0FC7B7}"/>
              </a:ext>
            </a:extLst>
          </p:cNvPr>
          <p:cNvSpPr>
            <a:spLocks noGrp="1"/>
          </p:cNvSpPr>
          <p:nvPr>
            <p:ph type="body" sz="quarter" idx="18"/>
          </p:nvPr>
        </p:nvSpPr>
        <p:spPr>
          <a:xfrm>
            <a:off x="7639050" y="1438275"/>
            <a:ext cx="4254499" cy="677108"/>
          </a:xfrm>
        </p:spPr>
        <p:txBody>
          <a:bodyPr/>
          <a:lstStyle/>
          <a:p>
            <a:r>
              <a:rPr lang="en-US">
                <a:solidFill>
                  <a:schemeClr val="accent2"/>
                </a:solidFill>
              </a:rPr>
              <a:t>OneLake Security &amp; Governance</a:t>
            </a:r>
          </a:p>
        </p:txBody>
      </p:sp>
      <p:sp>
        <p:nvSpPr>
          <p:cNvPr id="15" name="Text Placeholder 14">
            <a:extLst>
              <a:ext uri="{FF2B5EF4-FFF2-40B4-BE49-F238E27FC236}">
                <a16:creationId xmlns:a16="http://schemas.microsoft.com/office/drawing/2014/main" id="{2FF092BA-E74B-41E0-B979-21F5F7022827}"/>
              </a:ext>
            </a:extLst>
          </p:cNvPr>
          <p:cNvSpPr>
            <a:spLocks noGrp="1"/>
          </p:cNvSpPr>
          <p:nvPr>
            <p:ph type="body" sz="quarter" idx="19"/>
          </p:nvPr>
        </p:nvSpPr>
        <p:spPr>
          <a:xfrm>
            <a:off x="7713725" y="2082327"/>
            <a:ext cx="3264408" cy="3841052"/>
          </a:xfrm>
        </p:spPr>
        <p:txBody>
          <a:bodyPr/>
          <a:lstStyle/>
          <a:p>
            <a:r>
              <a:rPr lang="en-US" sz="1600"/>
              <a:t>Extend identities and network securely from on-prem to Azure via Microsoft Entra and hybrid connectivity.</a:t>
            </a:r>
          </a:p>
          <a:p>
            <a:r>
              <a:rPr lang="en-US" sz="1600" err="1"/>
              <a:t>OneLake</a:t>
            </a:r>
            <a:r>
              <a:rPr lang="en-US" sz="1600"/>
              <a:t> security and </a:t>
            </a:r>
            <a:r>
              <a:rPr lang="en-US" sz="1600" err="1"/>
              <a:t>lakehouse</a:t>
            </a:r>
            <a:r>
              <a:rPr lang="en-US" sz="1600"/>
              <a:t> permissions enforce data-level governance and access policies.</a:t>
            </a:r>
          </a:p>
          <a:p>
            <a:r>
              <a:rPr lang="en-US" sz="1600"/>
              <a:t>Centralize data in a governed Fabric Lakehouse for analytics, reporting, and downstream workloads.</a:t>
            </a:r>
          </a:p>
          <a:p>
            <a:r>
              <a:rPr lang="en-US" sz="1600"/>
              <a:t>Modernize analytics without disrupting existing on-prem identity, security, and connectivity models.</a:t>
            </a:r>
          </a:p>
        </p:txBody>
      </p:sp>
    </p:spTree>
    <p:extLst>
      <p:ext uri="{BB962C8B-B14F-4D97-AF65-F5344CB8AC3E}">
        <p14:creationId xmlns:p14="http://schemas.microsoft.com/office/powerpoint/2010/main" val="289353814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4378C-FC59-3E24-B1AB-109E02ADE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10E50-AC84-44A7-2C56-6CA6D29B1C3F}"/>
              </a:ext>
            </a:extLst>
          </p:cNvPr>
          <p:cNvSpPr>
            <a:spLocks noGrp="1"/>
          </p:cNvSpPr>
          <p:nvPr>
            <p:ph type="title"/>
          </p:nvPr>
        </p:nvSpPr>
        <p:spPr>
          <a:xfrm>
            <a:off x="586740" y="267723"/>
            <a:ext cx="11018520" cy="553998"/>
          </a:xfrm>
        </p:spPr>
        <p:txBody>
          <a:bodyPr/>
          <a:lstStyle/>
          <a:p>
            <a:r>
              <a:rPr lang="en-US"/>
              <a:t>Loading On-Prem NAS on Fabric OneLake</a:t>
            </a:r>
          </a:p>
        </p:txBody>
      </p:sp>
      <p:cxnSp>
        <p:nvCxnSpPr>
          <p:cNvPr id="60" name="Straight Arrow Connector 59">
            <a:extLst>
              <a:ext uri="{FF2B5EF4-FFF2-40B4-BE49-F238E27FC236}">
                <a16:creationId xmlns:a16="http://schemas.microsoft.com/office/drawing/2014/main" id="{D062731A-DB89-93D5-57AE-1D776C866D65}"/>
              </a:ext>
            </a:extLst>
          </p:cNvPr>
          <p:cNvCxnSpPr>
            <a:cxnSpLocks/>
            <a:endCxn id="49" idx="1"/>
          </p:cNvCxnSpPr>
          <p:nvPr/>
        </p:nvCxnSpPr>
        <p:spPr>
          <a:xfrm>
            <a:off x="2531252" y="1827882"/>
            <a:ext cx="1206726" cy="0"/>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grpSp>
        <p:nvGrpSpPr>
          <p:cNvPr id="69" name="Group 68">
            <a:extLst>
              <a:ext uri="{FF2B5EF4-FFF2-40B4-BE49-F238E27FC236}">
                <a16:creationId xmlns:a16="http://schemas.microsoft.com/office/drawing/2014/main" id="{42980A62-A6F5-33F1-DB2D-1D1EFAC7F869}"/>
              </a:ext>
            </a:extLst>
          </p:cNvPr>
          <p:cNvGrpSpPr/>
          <p:nvPr/>
        </p:nvGrpSpPr>
        <p:grpSpPr>
          <a:xfrm>
            <a:off x="3715229" y="1183215"/>
            <a:ext cx="3187221" cy="1128449"/>
            <a:chOff x="2210279" y="1078979"/>
            <a:chExt cx="3187221" cy="1128449"/>
          </a:xfrm>
        </p:grpSpPr>
        <p:grpSp>
          <p:nvGrpSpPr>
            <p:cNvPr id="68" name="Group 67">
              <a:extLst>
                <a:ext uri="{FF2B5EF4-FFF2-40B4-BE49-F238E27FC236}">
                  <a16:creationId xmlns:a16="http://schemas.microsoft.com/office/drawing/2014/main" id="{953D56B8-5B36-14F8-A172-408882647D4F}"/>
                </a:ext>
              </a:extLst>
            </p:cNvPr>
            <p:cNvGrpSpPr/>
            <p:nvPr/>
          </p:nvGrpSpPr>
          <p:grpSpPr>
            <a:xfrm>
              <a:off x="2210279" y="1239864"/>
              <a:ext cx="3187221" cy="967564"/>
              <a:chOff x="2210279" y="1239864"/>
              <a:chExt cx="3187221" cy="967564"/>
            </a:xfrm>
          </p:grpSpPr>
          <p:sp>
            <p:nvSpPr>
              <p:cNvPr id="49" name="Rectangle: Top Corners Rounded 125">
                <a:extLst>
                  <a:ext uri="{FF2B5EF4-FFF2-40B4-BE49-F238E27FC236}">
                    <a16:creationId xmlns:a16="http://schemas.microsoft.com/office/drawing/2014/main" id="{269F985D-BD57-3455-09FE-32FE04EBC181}"/>
                  </a:ext>
                  <a:ext uri="{C183D7F6-B498-43B3-948B-1728B52AA6E4}">
                    <adec:decorative xmlns:adec="http://schemas.microsoft.com/office/drawing/2017/decorative" val="1"/>
                  </a:ext>
                </a:extLst>
              </p:cNvPr>
              <p:cNvSpPr/>
              <p:nvPr/>
            </p:nvSpPr>
            <p:spPr bwMode="auto">
              <a:xfrm>
                <a:off x="2233028" y="1239864"/>
                <a:ext cx="3164472" cy="967564"/>
              </a:xfrm>
              <a:prstGeom prst="roundRect">
                <a:avLst>
                  <a:gd name="adj" fmla="val 5046"/>
                </a:avLst>
              </a:prstGeom>
              <a:solidFill>
                <a:srgbClr val="FFFFFF"/>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pic>
            <p:nvPicPr>
              <p:cNvPr id="50" name="Graphic 49">
                <a:extLst>
                  <a:ext uri="{FF2B5EF4-FFF2-40B4-BE49-F238E27FC236}">
                    <a16:creationId xmlns:a16="http://schemas.microsoft.com/office/drawing/2014/main" id="{2D1109C0-51DE-A1B0-9506-E56B7E0C09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64491" y="1365671"/>
                <a:ext cx="515657" cy="515657"/>
              </a:xfrm>
              <a:prstGeom prst="rect">
                <a:avLst/>
              </a:prstGeom>
            </p:spPr>
          </p:pic>
          <p:sp>
            <p:nvSpPr>
              <p:cNvPr id="51" name="Rounded Rectangle 14">
                <a:extLst>
                  <a:ext uri="{FF2B5EF4-FFF2-40B4-BE49-F238E27FC236}">
                    <a16:creationId xmlns:a16="http://schemas.microsoft.com/office/drawing/2014/main" id="{1FC9510D-5847-B50C-6633-CFA7CBFEDAC0}"/>
                  </a:ext>
                  <a:ext uri="{C183D7F6-B498-43B3-948B-1728B52AA6E4}">
                    <adec:decorative xmlns:adec="http://schemas.microsoft.com/office/drawing/2017/decorative" val="0"/>
                  </a:ext>
                </a:extLst>
              </p:cNvPr>
              <p:cNvSpPr/>
              <p:nvPr/>
            </p:nvSpPr>
            <p:spPr>
              <a:xfrm>
                <a:off x="2210279" y="1851563"/>
                <a:ext cx="1282698"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a:solidFill>
                      <a:srgbClr val="0078D4">
                        <a:lumMod val="60000"/>
                        <a:lumOff val="40000"/>
                      </a:srgbClr>
                    </a:solidFill>
                    <a:latin typeface="Segoe Sans Text Semilight"/>
                    <a:cs typeface="Segoe Sans Display Semibold" pitchFamily="2" charset="0"/>
                  </a:rPr>
                  <a:t>Connect Sync</a:t>
                </a:r>
              </a:p>
            </p:txBody>
          </p:sp>
          <p:sp>
            <p:nvSpPr>
              <p:cNvPr id="52" name="Rounded Rectangle 14">
                <a:extLst>
                  <a:ext uri="{FF2B5EF4-FFF2-40B4-BE49-F238E27FC236}">
                    <a16:creationId xmlns:a16="http://schemas.microsoft.com/office/drawing/2014/main" id="{158FE631-307A-65FF-FF9F-EB66287DF84C}"/>
                  </a:ext>
                  <a:ext uri="{C183D7F6-B498-43B3-948B-1728B52AA6E4}">
                    <adec:decorative xmlns:adec="http://schemas.microsoft.com/office/drawing/2017/decorative" val="0"/>
                  </a:ext>
                </a:extLst>
              </p:cNvPr>
              <p:cNvSpPr/>
              <p:nvPr/>
            </p:nvSpPr>
            <p:spPr>
              <a:xfrm>
                <a:off x="3972102" y="1868730"/>
                <a:ext cx="1282698"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a:solidFill>
                      <a:srgbClr val="0078D4">
                        <a:lumMod val="60000"/>
                        <a:lumOff val="40000"/>
                      </a:srgbClr>
                    </a:solidFill>
                    <a:latin typeface="Segoe Sans Text Semilight"/>
                    <a:cs typeface="Segoe Sans Display Semibold" pitchFamily="2" charset="0"/>
                  </a:rPr>
                  <a:t>Entra Users</a:t>
                </a:r>
              </a:p>
            </p:txBody>
          </p:sp>
          <p:sp>
            <p:nvSpPr>
              <p:cNvPr id="54" name="Rounded Rectangle 14">
                <a:extLst>
                  <a:ext uri="{FF2B5EF4-FFF2-40B4-BE49-F238E27FC236}">
                    <a16:creationId xmlns:a16="http://schemas.microsoft.com/office/drawing/2014/main" id="{5834C931-951C-65DA-D792-F10F9C3B3EB4}"/>
                  </a:ext>
                  <a:ext uri="{C183D7F6-B498-43B3-948B-1728B52AA6E4}">
                    <adec:decorative xmlns:adec="http://schemas.microsoft.com/office/drawing/2017/decorative" val="0"/>
                  </a:ext>
                </a:extLst>
              </p:cNvPr>
              <p:cNvSpPr/>
              <p:nvPr/>
            </p:nvSpPr>
            <p:spPr>
              <a:xfrm>
                <a:off x="2977876" y="1469008"/>
                <a:ext cx="1282698"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b="1">
                    <a:solidFill>
                      <a:schemeClr val="tx2"/>
                    </a:solidFill>
                    <a:latin typeface="Segoe Sans Text Semilight"/>
                    <a:cs typeface="Segoe Sans Display Semibold" pitchFamily="2" charset="0"/>
                  </a:rPr>
                  <a:t>Create Identities in Entra</a:t>
                </a:r>
              </a:p>
            </p:txBody>
          </p:sp>
          <p:pic>
            <p:nvPicPr>
              <p:cNvPr id="55" name="Graphic 54">
                <a:extLst>
                  <a:ext uri="{FF2B5EF4-FFF2-40B4-BE49-F238E27FC236}">
                    <a16:creationId xmlns:a16="http://schemas.microsoft.com/office/drawing/2014/main" id="{A1C15C6F-EDA7-109F-DF05-CE2532028D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2952" y="1422093"/>
                <a:ext cx="381381" cy="381381"/>
              </a:xfrm>
              <a:prstGeom prst="rect">
                <a:avLst/>
              </a:prstGeom>
            </p:spPr>
          </p:pic>
          <p:cxnSp>
            <p:nvCxnSpPr>
              <p:cNvPr id="57" name="Straight Arrow Connector 56">
                <a:extLst>
                  <a:ext uri="{FF2B5EF4-FFF2-40B4-BE49-F238E27FC236}">
                    <a16:creationId xmlns:a16="http://schemas.microsoft.com/office/drawing/2014/main" id="{56B3DDF3-D0E7-CB95-1F0A-55E0A8214B40}"/>
                  </a:ext>
                </a:extLst>
              </p:cNvPr>
              <p:cNvCxnSpPr>
                <a:cxnSpLocks/>
              </p:cNvCxnSpPr>
              <p:nvPr/>
            </p:nvCxnSpPr>
            <p:spPr>
              <a:xfrm>
                <a:off x="3079750" y="1631868"/>
                <a:ext cx="1143000" cy="0"/>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grpSp>
        <p:sp>
          <p:nvSpPr>
            <p:cNvPr id="66" name="TextBox 65">
              <a:extLst>
                <a:ext uri="{FF2B5EF4-FFF2-40B4-BE49-F238E27FC236}">
                  <a16:creationId xmlns:a16="http://schemas.microsoft.com/office/drawing/2014/main" id="{989A40BC-200D-2C8E-603F-03B74E875813}"/>
                </a:ext>
              </a:extLst>
            </p:cNvPr>
            <p:cNvSpPr txBox="1"/>
            <p:nvPr/>
          </p:nvSpPr>
          <p:spPr>
            <a:xfrm>
              <a:off x="2801089" y="1078979"/>
              <a:ext cx="1763814" cy="276999"/>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Microsoft Entra ID</a:t>
              </a:r>
              <a:endParaRPr kumimoji="0" lang="en-US" sz="16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grpSp>
      <p:sp>
        <p:nvSpPr>
          <p:cNvPr id="45" name="Rectangle: Top Corners Rounded 125">
            <a:extLst>
              <a:ext uri="{FF2B5EF4-FFF2-40B4-BE49-F238E27FC236}">
                <a16:creationId xmlns:a16="http://schemas.microsoft.com/office/drawing/2014/main" id="{C55E625C-EA2E-B34C-80F0-94559E328DDD}"/>
              </a:ext>
              <a:ext uri="{C183D7F6-B498-43B3-948B-1728B52AA6E4}">
                <adec:decorative xmlns:adec="http://schemas.microsoft.com/office/drawing/2017/decorative" val="1"/>
              </a:ext>
            </a:extLst>
          </p:cNvPr>
          <p:cNvSpPr/>
          <p:nvPr/>
        </p:nvSpPr>
        <p:spPr bwMode="auto">
          <a:xfrm>
            <a:off x="1244553" y="1175152"/>
            <a:ext cx="1286699" cy="3724538"/>
          </a:xfrm>
          <a:prstGeom prst="roundRect">
            <a:avLst>
              <a:gd name="adj" fmla="val 5046"/>
            </a:avLst>
          </a:prstGeom>
          <a:solidFill>
            <a:srgbClr val="FFFFFF"/>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grpSp>
        <p:nvGrpSpPr>
          <p:cNvPr id="132" name="Group 131">
            <a:extLst>
              <a:ext uri="{FF2B5EF4-FFF2-40B4-BE49-F238E27FC236}">
                <a16:creationId xmlns:a16="http://schemas.microsoft.com/office/drawing/2014/main" id="{8385571A-ABCE-AD91-B929-A7B4267FB2E2}"/>
              </a:ext>
            </a:extLst>
          </p:cNvPr>
          <p:cNvGrpSpPr/>
          <p:nvPr/>
        </p:nvGrpSpPr>
        <p:grpSpPr>
          <a:xfrm>
            <a:off x="1307724" y="1526437"/>
            <a:ext cx="1106980" cy="813482"/>
            <a:chOff x="448679" y="1837983"/>
            <a:chExt cx="1106980" cy="813482"/>
          </a:xfrm>
        </p:grpSpPr>
        <p:sp>
          <p:nvSpPr>
            <p:cNvPr id="10" name="Rounded Rectangle 14">
              <a:extLst>
                <a:ext uri="{FF2B5EF4-FFF2-40B4-BE49-F238E27FC236}">
                  <a16:creationId xmlns:a16="http://schemas.microsoft.com/office/drawing/2014/main" id="{2BBADA9B-09CB-084E-28A6-8252320E6C76}"/>
                </a:ext>
                <a:ext uri="{C183D7F6-B498-43B3-948B-1728B52AA6E4}">
                  <adec:decorative xmlns:adec="http://schemas.microsoft.com/office/drawing/2017/decorative" val="0"/>
                </a:ext>
              </a:extLst>
            </p:cNvPr>
            <p:cNvSpPr/>
            <p:nvPr/>
          </p:nvSpPr>
          <p:spPr>
            <a:xfrm>
              <a:off x="448679" y="2343688"/>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AD Domain Controller</a:t>
              </a:r>
            </a:p>
          </p:txBody>
        </p:sp>
        <p:pic>
          <p:nvPicPr>
            <p:cNvPr id="17" name="Graphic 16">
              <a:extLst>
                <a:ext uri="{FF2B5EF4-FFF2-40B4-BE49-F238E27FC236}">
                  <a16:creationId xmlns:a16="http://schemas.microsoft.com/office/drawing/2014/main" id="{4A6B13BC-162C-49CE-A261-13C58A3D9E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843" y="1837983"/>
              <a:ext cx="446661" cy="446661"/>
            </a:xfrm>
            <a:prstGeom prst="rect">
              <a:avLst/>
            </a:prstGeom>
          </p:spPr>
        </p:pic>
      </p:grpSp>
      <p:sp>
        <p:nvSpPr>
          <p:cNvPr id="12" name="Rounded Rectangle 14">
            <a:extLst>
              <a:ext uri="{FF2B5EF4-FFF2-40B4-BE49-F238E27FC236}">
                <a16:creationId xmlns:a16="http://schemas.microsoft.com/office/drawing/2014/main" id="{A12DD6D7-DED5-0404-8A9D-37584DD8FCEB}"/>
              </a:ext>
              <a:ext uri="{C183D7F6-B498-43B3-948B-1728B52AA6E4}">
                <adec:decorative xmlns:adec="http://schemas.microsoft.com/office/drawing/2017/decorative" val="0"/>
              </a:ext>
            </a:extLst>
          </p:cNvPr>
          <p:cNvSpPr/>
          <p:nvPr/>
        </p:nvSpPr>
        <p:spPr>
          <a:xfrm>
            <a:off x="1359663" y="2978412"/>
            <a:ext cx="1106980"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Permissions File</a:t>
            </a:r>
          </a:p>
        </p:txBody>
      </p:sp>
      <p:sp>
        <p:nvSpPr>
          <p:cNvPr id="70" name="TextBox 69">
            <a:extLst>
              <a:ext uri="{FF2B5EF4-FFF2-40B4-BE49-F238E27FC236}">
                <a16:creationId xmlns:a16="http://schemas.microsoft.com/office/drawing/2014/main" id="{1FC2E6E6-1AF7-57E7-61E9-C4CA677DD110}"/>
              </a:ext>
            </a:extLst>
          </p:cNvPr>
          <p:cNvSpPr txBox="1"/>
          <p:nvPr/>
        </p:nvSpPr>
        <p:spPr>
          <a:xfrm>
            <a:off x="1381570" y="981507"/>
            <a:ext cx="1071574" cy="461665"/>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On-Prem Services</a:t>
            </a:r>
            <a:endParaRPr kumimoji="0" lang="en-US" sz="16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sp>
        <p:nvSpPr>
          <p:cNvPr id="147" name="Rectangle: Top Corners Rounded 125">
            <a:extLst>
              <a:ext uri="{FF2B5EF4-FFF2-40B4-BE49-F238E27FC236}">
                <a16:creationId xmlns:a16="http://schemas.microsoft.com/office/drawing/2014/main" id="{28B7D47C-5D80-C559-417B-548EEA1A1361}"/>
              </a:ext>
              <a:ext uri="{C183D7F6-B498-43B3-948B-1728B52AA6E4}">
                <adec:decorative xmlns:adec="http://schemas.microsoft.com/office/drawing/2017/decorative" val="1"/>
              </a:ext>
            </a:extLst>
          </p:cNvPr>
          <p:cNvSpPr/>
          <p:nvPr/>
        </p:nvSpPr>
        <p:spPr bwMode="auto">
          <a:xfrm>
            <a:off x="7424040" y="1282301"/>
            <a:ext cx="4107560" cy="4457138"/>
          </a:xfrm>
          <a:prstGeom prst="roundRect">
            <a:avLst>
              <a:gd name="adj" fmla="val 5046"/>
            </a:avLst>
          </a:prstGeom>
          <a:solidFill>
            <a:schemeClr val="bg1">
              <a:lumMod val="95000"/>
            </a:schemeClr>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grpSp>
        <p:nvGrpSpPr>
          <p:cNvPr id="131" name="Group 130">
            <a:extLst>
              <a:ext uri="{FF2B5EF4-FFF2-40B4-BE49-F238E27FC236}">
                <a16:creationId xmlns:a16="http://schemas.microsoft.com/office/drawing/2014/main" id="{26772172-BD9B-D808-B791-DF7907642559}"/>
              </a:ext>
            </a:extLst>
          </p:cNvPr>
          <p:cNvGrpSpPr/>
          <p:nvPr/>
        </p:nvGrpSpPr>
        <p:grpSpPr>
          <a:xfrm>
            <a:off x="8485043" y="1377524"/>
            <a:ext cx="1894055" cy="276999"/>
            <a:chOff x="7475611" y="2958516"/>
            <a:chExt cx="1894055" cy="276999"/>
          </a:xfrm>
        </p:grpSpPr>
        <p:sp>
          <p:nvSpPr>
            <p:cNvPr id="83" name="TextBox 82">
              <a:extLst>
                <a:ext uri="{FF2B5EF4-FFF2-40B4-BE49-F238E27FC236}">
                  <a16:creationId xmlns:a16="http://schemas.microsoft.com/office/drawing/2014/main" id="{AF01087F-3202-1A49-67D5-EF47FAFE3E7E}"/>
                </a:ext>
                <a:ext uri="{C183D7F6-B498-43B3-948B-1728B52AA6E4}">
                  <adec:decorative xmlns:adec="http://schemas.microsoft.com/office/drawing/2017/decorative" val="1"/>
                </a:ext>
              </a:extLst>
            </p:cNvPr>
            <p:cNvSpPr txBox="1"/>
            <p:nvPr/>
          </p:nvSpPr>
          <p:spPr>
            <a:xfrm>
              <a:off x="7836360" y="2958516"/>
              <a:ext cx="153330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800" b="1">
                  <a:ln w="3175">
                    <a:noFill/>
                  </a:ln>
                  <a:gradFill flip="none" rotWithShape="1">
                    <a:gsLst>
                      <a:gs pos="80000">
                        <a:srgbClr val="318581"/>
                      </a:gs>
                      <a:gs pos="0">
                        <a:srgbClr val="0A6BBA"/>
                      </a:gs>
                    </a:gsLst>
                    <a:path path="circle">
                      <a:fillToRect l="100000" t="100000"/>
                    </a:path>
                    <a:tileRect r="-100000" b="-100000"/>
                  </a:gradFill>
                  <a:latin typeface="Segoe UI Semibold"/>
                  <a:cs typeface="Segoe UI" pitchFamily="34" charset="0"/>
                </a:rPr>
                <a:t>Fabric Tenant</a:t>
              </a:r>
            </a:p>
          </p:txBody>
        </p:sp>
        <p:pic>
          <p:nvPicPr>
            <p:cNvPr id="84" name="Picture 83">
              <a:extLst>
                <a:ext uri="{FF2B5EF4-FFF2-40B4-BE49-F238E27FC236}">
                  <a16:creationId xmlns:a16="http://schemas.microsoft.com/office/drawing/2014/main" id="{D62EA685-1FEC-6887-2D30-EE325642550C}"/>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75611" y="2966827"/>
              <a:ext cx="247402" cy="260377"/>
            </a:xfrm>
            <a:prstGeom prst="rect">
              <a:avLst/>
            </a:prstGeom>
          </p:spPr>
        </p:pic>
      </p:grpSp>
      <p:sp>
        <p:nvSpPr>
          <p:cNvPr id="81" name="Rectangle: Rounded Corners 6">
            <a:extLst>
              <a:ext uri="{FF2B5EF4-FFF2-40B4-BE49-F238E27FC236}">
                <a16:creationId xmlns:a16="http://schemas.microsoft.com/office/drawing/2014/main" id="{73079043-84BB-5961-0D1E-5F81A9AC3829}"/>
              </a:ext>
              <a:ext uri="{C183D7F6-B498-43B3-948B-1728B52AA6E4}">
                <adec:decorative xmlns:adec="http://schemas.microsoft.com/office/drawing/2017/decorative" val="1"/>
              </a:ext>
            </a:extLst>
          </p:cNvPr>
          <p:cNvSpPr/>
          <p:nvPr/>
        </p:nvSpPr>
        <p:spPr>
          <a:xfrm>
            <a:off x="7484674" y="1880264"/>
            <a:ext cx="3912285" cy="3639843"/>
          </a:xfrm>
          <a:prstGeom prst="roundRect">
            <a:avLst>
              <a:gd name="adj" fmla="val 5644"/>
            </a:avLst>
          </a:prstGeom>
          <a:solidFill>
            <a:schemeClr val="bg1">
              <a:lumMod val="95000"/>
            </a:schemeClr>
          </a:solidFill>
          <a:ln w="12700" cap="rnd">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algn="ctr" defTabSz="811670">
              <a:spcBef>
                <a:spcPts val="174"/>
              </a:spcBef>
            </a:pPr>
            <a:endParaRPr lang="en-US" sz="1400">
              <a:gradFill>
                <a:gsLst>
                  <a:gs pos="41958">
                    <a:srgbClr val="FFFFFF"/>
                  </a:gs>
                  <a:gs pos="63000">
                    <a:srgbClr val="FFFFFF"/>
                  </a:gs>
                </a:gsLst>
                <a:lin ang="0" scaled="0"/>
              </a:gradFill>
              <a:latin typeface="Segoe UI" panose="020B0502040204020203" pitchFamily="34" charset="0"/>
              <a:cs typeface="Segoe UI" panose="020B0502040204020203" pitchFamily="34" charset="0"/>
            </a:endParaRPr>
          </a:p>
        </p:txBody>
      </p:sp>
      <p:cxnSp>
        <p:nvCxnSpPr>
          <p:cNvPr id="74" name="Straight Arrow Connector 73">
            <a:extLst>
              <a:ext uri="{FF2B5EF4-FFF2-40B4-BE49-F238E27FC236}">
                <a16:creationId xmlns:a16="http://schemas.microsoft.com/office/drawing/2014/main" id="{CE3D793F-0AEE-F42B-567D-181E17F087FC}"/>
              </a:ext>
            </a:extLst>
          </p:cNvPr>
          <p:cNvCxnSpPr>
            <a:cxnSpLocks/>
          </p:cNvCxnSpPr>
          <p:nvPr/>
        </p:nvCxnSpPr>
        <p:spPr>
          <a:xfrm>
            <a:off x="2598776" y="3233661"/>
            <a:ext cx="4806129" cy="0"/>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1" name="Oval 190">
            <a:extLst>
              <a:ext uri="{FF2B5EF4-FFF2-40B4-BE49-F238E27FC236}">
                <a16:creationId xmlns:a16="http://schemas.microsoft.com/office/drawing/2014/main" id="{4B595191-3A9B-37A4-7C33-708E6DE7F3E5}"/>
              </a:ext>
            </a:extLst>
          </p:cNvPr>
          <p:cNvSpPr/>
          <p:nvPr/>
        </p:nvSpPr>
        <p:spPr>
          <a:xfrm>
            <a:off x="2408808" y="959304"/>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1</a:t>
            </a:r>
          </a:p>
        </p:txBody>
      </p:sp>
      <p:sp>
        <p:nvSpPr>
          <p:cNvPr id="192" name="Oval 191">
            <a:extLst>
              <a:ext uri="{FF2B5EF4-FFF2-40B4-BE49-F238E27FC236}">
                <a16:creationId xmlns:a16="http://schemas.microsoft.com/office/drawing/2014/main" id="{9F408DC7-6E13-1A87-756B-8BF391938268}"/>
              </a:ext>
            </a:extLst>
          </p:cNvPr>
          <p:cNvSpPr/>
          <p:nvPr/>
        </p:nvSpPr>
        <p:spPr>
          <a:xfrm>
            <a:off x="123760" y="5290795"/>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1</a:t>
            </a:r>
          </a:p>
        </p:txBody>
      </p:sp>
      <p:sp>
        <p:nvSpPr>
          <p:cNvPr id="193" name="TextBox 192">
            <a:extLst>
              <a:ext uri="{FF2B5EF4-FFF2-40B4-BE49-F238E27FC236}">
                <a16:creationId xmlns:a16="http://schemas.microsoft.com/office/drawing/2014/main" id="{D8C06362-A890-90EA-A9CA-CE8EE6943B86}"/>
              </a:ext>
            </a:extLst>
          </p:cNvPr>
          <p:cNvSpPr txBox="1"/>
          <p:nvPr/>
        </p:nvSpPr>
        <p:spPr>
          <a:xfrm>
            <a:off x="446757" y="5252365"/>
            <a:ext cx="2819975" cy="461665"/>
          </a:xfrm>
          <a:prstGeom prst="rect">
            <a:avLst/>
          </a:prstGeom>
          <a:noFill/>
        </p:spPr>
        <p:txBody>
          <a:bodyPr wrap="square" rtlCol="0">
            <a:spAutoFit/>
          </a:bodyPr>
          <a:lstStyle/>
          <a:p>
            <a:r>
              <a:rPr lang="en-US" sz="1200">
                <a:latin typeface="Segoe Sans Text" pitchFamily="2" charset="0"/>
                <a:cs typeface="Segoe Sans Text" pitchFamily="2" charset="0"/>
              </a:rPr>
              <a:t>Permissions files contains NTFS/ACL-based permissions on the source files</a:t>
            </a:r>
          </a:p>
        </p:txBody>
      </p:sp>
      <p:sp>
        <p:nvSpPr>
          <p:cNvPr id="194" name="Oval 193">
            <a:extLst>
              <a:ext uri="{FF2B5EF4-FFF2-40B4-BE49-F238E27FC236}">
                <a16:creationId xmlns:a16="http://schemas.microsoft.com/office/drawing/2014/main" id="{F4856983-BD53-08A5-382A-FEE4E2E96A2C}"/>
              </a:ext>
            </a:extLst>
          </p:cNvPr>
          <p:cNvSpPr/>
          <p:nvPr/>
        </p:nvSpPr>
        <p:spPr>
          <a:xfrm>
            <a:off x="3802844" y="1175152"/>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2</a:t>
            </a:r>
          </a:p>
        </p:txBody>
      </p:sp>
      <p:sp>
        <p:nvSpPr>
          <p:cNvPr id="195" name="Oval 194">
            <a:extLst>
              <a:ext uri="{FF2B5EF4-FFF2-40B4-BE49-F238E27FC236}">
                <a16:creationId xmlns:a16="http://schemas.microsoft.com/office/drawing/2014/main" id="{31C10EE8-1D53-839D-5CAA-5DB2EB7EAB15}"/>
              </a:ext>
            </a:extLst>
          </p:cNvPr>
          <p:cNvSpPr/>
          <p:nvPr/>
        </p:nvSpPr>
        <p:spPr>
          <a:xfrm>
            <a:off x="132099" y="6038889"/>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2</a:t>
            </a:r>
          </a:p>
        </p:txBody>
      </p:sp>
      <p:sp>
        <p:nvSpPr>
          <p:cNvPr id="197" name="Oval 196">
            <a:extLst>
              <a:ext uri="{FF2B5EF4-FFF2-40B4-BE49-F238E27FC236}">
                <a16:creationId xmlns:a16="http://schemas.microsoft.com/office/drawing/2014/main" id="{2A6F24C3-3E14-2C6E-3A72-358C6C31E11C}"/>
              </a:ext>
            </a:extLst>
          </p:cNvPr>
          <p:cNvSpPr/>
          <p:nvPr/>
        </p:nvSpPr>
        <p:spPr>
          <a:xfrm>
            <a:off x="7439330" y="1793057"/>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4</a:t>
            </a:r>
          </a:p>
        </p:txBody>
      </p:sp>
      <p:sp>
        <p:nvSpPr>
          <p:cNvPr id="198" name="Oval 197">
            <a:extLst>
              <a:ext uri="{FF2B5EF4-FFF2-40B4-BE49-F238E27FC236}">
                <a16:creationId xmlns:a16="http://schemas.microsoft.com/office/drawing/2014/main" id="{1A961C42-6A99-256B-9FB5-0FB4A090E7EA}"/>
              </a:ext>
            </a:extLst>
          </p:cNvPr>
          <p:cNvSpPr/>
          <p:nvPr/>
        </p:nvSpPr>
        <p:spPr>
          <a:xfrm>
            <a:off x="3322122" y="5320346"/>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3</a:t>
            </a:r>
          </a:p>
        </p:txBody>
      </p:sp>
      <p:sp>
        <p:nvSpPr>
          <p:cNvPr id="199" name="TextBox 198">
            <a:extLst>
              <a:ext uri="{FF2B5EF4-FFF2-40B4-BE49-F238E27FC236}">
                <a16:creationId xmlns:a16="http://schemas.microsoft.com/office/drawing/2014/main" id="{04EDA2E9-C7DE-AC0C-8306-E1690C5F56E0}"/>
              </a:ext>
            </a:extLst>
          </p:cNvPr>
          <p:cNvSpPr txBox="1"/>
          <p:nvPr/>
        </p:nvSpPr>
        <p:spPr>
          <a:xfrm>
            <a:off x="3664254" y="6006866"/>
            <a:ext cx="3562046" cy="646331"/>
          </a:xfrm>
          <a:prstGeom prst="rect">
            <a:avLst/>
          </a:prstGeom>
          <a:noFill/>
        </p:spPr>
        <p:txBody>
          <a:bodyPr wrap="square" rtlCol="0">
            <a:spAutoFit/>
          </a:bodyPr>
          <a:lstStyle/>
          <a:p>
            <a:r>
              <a:rPr lang="en-US" sz="1200">
                <a:latin typeface="Segoe Sans Text" pitchFamily="2" charset="0"/>
                <a:cs typeface="Segoe Sans Text" pitchFamily="2" charset="0"/>
              </a:rPr>
              <a:t>User authenticate with Entra Id and roles are applied as folder-level permissions within the Lakehouse 'Files'</a:t>
            </a:r>
          </a:p>
        </p:txBody>
      </p:sp>
      <p:grpSp>
        <p:nvGrpSpPr>
          <p:cNvPr id="126" name="Group 125">
            <a:extLst>
              <a:ext uri="{FF2B5EF4-FFF2-40B4-BE49-F238E27FC236}">
                <a16:creationId xmlns:a16="http://schemas.microsoft.com/office/drawing/2014/main" id="{1ABC8ED3-D392-9481-09D4-086AF1F23F17}"/>
              </a:ext>
            </a:extLst>
          </p:cNvPr>
          <p:cNvGrpSpPr/>
          <p:nvPr/>
        </p:nvGrpSpPr>
        <p:grpSpPr>
          <a:xfrm>
            <a:off x="8325753" y="1646212"/>
            <a:ext cx="2230125" cy="433398"/>
            <a:chOff x="6164575" y="5484552"/>
            <a:chExt cx="2230125" cy="433398"/>
          </a:xfrm>
          <a:solidFill>
            <a:schemeClr val="bg1">
              <a:lumMod val="85000"/>
            </a:schemeClr>
          </a:solidFill>
        </p:grpSpPr>
        <p:grpSp>
          <p:nvGrpSpPr>
            <p:cNvPr id="120" name="Group 119">
              <a:extLst>
                <a:ext uri="{FF2B5EF4-FFF2-40B4-BE49-F238E27FC236}">
                  <a16:creationId xmlns:a16="http://schemas.microsoft.com/office/drawing/2014/main" id="{7D8BEBD4-4078-20E4-651C-4F46C608072A}"/>
                </a:ext>
              </a:extLst>
            </p:cNvPr>
            <p:cNvGrpSpPr/>
            <p:nvPr/>
          </p:nvGrpSpPr>
          <p:grpSpPr>
            <a:xfrm>
              <a:off x="6607932" y="5484552"/>
              <a:ext cx="1786768" cy="433398"/>
              <a:chOff x="3019880" y="4001942"/>
              <a:chExt cx="1786768" cy="433398"/>
            </a:xfrm>
            <a:grpFill/>
          </p:grpSpPr>
          <p:sp>
            <p:nvSpPr>
              <p:cNvPr id="121" name="Rounded Rectangle 45">
                <a:extLst>
                  <a:ext uri="{FF2B5EF4-FFF2-40B4-BE49-F238E27FC236}">
                    <a16:creationId xmlns:a16="http://schemas.microsoft.com/office/drawing/2014/main" id="{820618C8-5807-1B69-040B-AD3BEBF7575F}"/>
                  </a:ext>
                </a:extLst>
              </p:cNvPr>
              <p:cNvSpPr/>
              <p:nvPr/>
            </p:nvSpPr>
            <p:spPr>
              <a:xfrm>
                <a:off x="3395781" y="4001942"/>
                <a:ext cx="1410867" cy="433398"/>
              </a:xfrm>
              <a:prstGeom prst="roundRect">
                <a:avLst>
                  <a:gd name="adj" fmla="val 4528"/>
                </a:avLst>
              </a:prstGeom>
              <a:solidFill>
                <a:schemeClr val="bg1">
                  <a:lumMod val="95000"/>
                </a:schemeClr>
              </a:solidFill>
              <a:ln>
                <a:noFill/>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defTabSz="914400">
                  <a:defRPr/>
                </a:pPr>
                <a:r>
                  <a:rPr lang="en-US" sz="1200" kern="0">
                    <a:solidFill>
                      <a:schemeClr val="tx2"/>
                    </a:solidFill>
                    <a:latin typeface="Segoe UI Semibold"/>
                    <a:cs typeface="Segoe UI" panose="020B0502040204020203" pitchFamily="34" charset="0"/>
                  </a:rPr>
                  <a:t>OneLake Security</a:t>
                </a:r>
              </a:p>
            </p:txBody>
          </p:sp>
          <p:pic>
            <p:nvPicPr>
              <p:cNvPr id="122" name="Picture 121" descr="Logo, company name&#10;&#10;Description automatically generated">
                <a:extLst>
                  <a:ext uri="{FF2B5EF4-FFF2-40B4-BE49-F238E27FC236}">
                    <a16:creationId xmlns:a16="http://schemas.microsoft.com/office/drawing/2014/main" id="{8CA48C4D-C3B2-6D0B-B25C-0350C5A6E360}"/>
                  </a:ext>
                </a:extLst>
              </p:cNvPr>
              <p:cNvPicPr>
                <a:picLocks noChangeAspect="1"/>
              </p:cNvPicPr>
              <p:nvPr/>
            </p:nvPicPr>
            <p:blipFill rotWithShape="1">
              <a:blip r:embed="rId7">
                <a:extLst>
                  <a:ext uri="{28A0092B-C50C-407E-A947-70E740481C1C}">
                    <a14:useLocalDpi xmlns:a14="http://schemas.microsoft.com/office/drawing/2010/main" val="0"/>
                  </a:ext>
                </a:extLst>
              </a:blip>
              <a:srcRect l="-7916" r="-7916"/>
              <a:stretch/>
            </p:blipFill>
            <p:spPr>
              <a:xfrm>
                <a:off x="3019880" y="4045474"/>
                <a:ext cx="400384" cy="346336"/>
              </a:xfrm>
              <a:prstGeom prst="rect">
                <a:avLst/>
              </a:prstGeom>
              <a:solidFill>
                <a:schemeClr val="bg1">
                  <a:lumMod val="95000"/>
                </a:schemeClr>
              </a:solidFill>
            </p:spPr>
          </p:pic>
        </p:grpSp>
        <p:pic>
          <p:nvPicPr>
            <p:cNvPr id="123" name="Graphic 122" descr="Lock with solid fill">
              <a:extLst>
                <a:ext uri="{FF2B5EF4-FFF2-40B4-BE49-F238E27FC236}">
                  <a16:creationId xmlns:a16="http://schemas.microsoft.com/office/drawing/2014/main" id="{E168DB13-906C-714E-1504-C3D8A26436E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64575" y="5501850"/>
              <a:ext cx="398872" cy="379309"/>
            </a:xfrm>
            <a:prstGeom prst="rect">
              <a:avLst/>
            </a:prstGeom>
          </p:spPr>
        </p:pic>
      </p:grpSp>
      <p:grpSp>
        <p:nvGrpSpPr>
          <p:cNvPr id="26" name="Group 25">
            <a:extLst>
              <a:ext uri="{FF2B5EF4-FFF2-40B4-BE49-F238E27FC236}">
                <a16:creationId xmlns:a16="http://schemas.microsoft.com/office/drawing/2014/main" id="{F2A57984-8289-3A2C-C2BC-69135DEF0795}"/>
              </a:ext>
            </a:extLst>
          </p:cNvPr>
          <p:cNvGrpSpPr/>
          <p:nvPr/>
        </p:nvGrpSpPr>
        <p:grpSpPr>
          <a:xfrm>
            <a:off x="7396784" y="2742144"/>
            <a:ext cx="1750571" cy="1047255"/>
            <a:chOff x="7660037" y="2381745"/>
            <a:chExt cx="1750571" cy="1047255"/>
          </a:xfrm>
        </p:grpSpPr>
        <p:grpSp>
          <p:nvGrpSpPr>
            <p:cNvPr id="25" name="Group 24">
              <a:extLst>
                <a:ext uri="{FF2B5EF4-FFF2-40B4-BE49-F238E27FC236}">
                  <a16:creationId xmlns:a16="http://schemas.microsoft.com/office/drawing/2014/main" id="{6DE9F6EE-0C5A-30A0-A8CA-2F4208FD4D59}"/>
                </a:ext>
              </a:extLst>
            </p:cNvPr>
            <p:cNvGrpSpPr/>
            <p:nvPr/>
          </p:nvGrpSpPr>
          <p:grpSpPr>
            <a:xfrm>
              <a:off x="8006572" y="2381745"/>
              <a:ext cx="1057500" cy="1047255"/>
              <a:chOff x="8035701" y="2381745"/>
              <a:chExt cx="1057500" cy="1047255"/>
            </a:xfrm>
          </p:grpSpPr>
          <p:sp>
            <p:nvSpPr>
              <p:cNvPr id="15" name="Rectangle: Rounded Corners 14">
                <a:extLst>
                  <a:ext uri="{FF2B5EF4-FFF2-40B4-BE49-F238E27FC236}">
                    <a16:creationId xmlns:a16="http://schemas.microsoft.com/office/drawing/2014/main" id="{D893E7C9-F609-BA1A-8FC9-E616E456FEFE}"/>
                  </a:ext>
                </a:extLst>
              </p:cNvPr>
              <p:cNvSpPr/>
              <p:nvPr/>
            </p:nvSpPr>
            <p:spPr>
              <a:xfrm>
                <a:off x="8035701" y="2381745"/>
                <a:ext cx="1057500" cy="104725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8CE0D22F-90C0-7C30-8346-464AA77E0617}"/>
                  </a:ext>
                </a:extLst>
              </p:cNvPr>
              <p:cNvGrpSpPr/>
              <p:nvPr/>
            </p:nvGrpSpPr>
            <p:grpSpPr>
              <a:xfrm>
                <a:off x="8269030" y="2644289"/>
                <a:ext cx="594328" cy="505648"/>
                <a:chOff x="8251464" y="3120928"/>
                <a:chExt cx="594328" cy="505648"/>
              </a:xfrm>
            </p:grpSpPr>
            <p:grpSp>
              <p:nvGrpSpPr>
                <p:cNvPr id="16" name="Group 15">
                  <a:extLst>
                    <a:ext uri="{FF2B5EF4-FFF2-40B4-BE49-F238E27FC236}">
                      <a16:creationId xmlns:a16="http://schemas.microsoft.com/office/drawing/2014/main" id="{244923EC-09EB-141C-8F05-E837B477BFC9}"/>
                    </a:ext>
                  </a:extLst>
                </p:cNvPr>
                <p:cNvGrpSpPr/>
                <p:nvPr/>
              </p:nvGrpSpPr>
              <p:grpSpPr>
                <a:xfrm>
                  <a:off x="8367135" y="3228928"/>
                  <a:ext cx="478657" cy="397648"/>
                  <a:chOff x="5570392" y="4264532"/>
                  <a:chExt cx="331746" cy="266059"/>
                </a:xfrm>
                <a:solidFill>
                  <a:srgbClr val="84E8FD"/>
                </a:solidFill>
              </p:grpSpPr>
              <p:sp>
                <p:nvSpPr>
                  <p:cNvPr id="20" name="Freeform 24">
                    <a:extLst>
                      <a:ext uri="{FF2B5EF4-FFF2-40B4-BE49-F238E27FC236}">
                        <a16:creationId xmlns:a16="http://schemas.microsoft.com/office/drawing/2014/main" id="{D2A7AAFC-6F6E-BBB5-B1BD-0DB25956D6BE}"/>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UI" pitchFamily="34" charset="0"/>
                    </a:endParaRPr>
                  </a:p>
                </p:txBody>
              </p:sp>
              <p:sp>
                <p:nvSpPr>
                  <p:cNvPr id="21" name="Freeform 25">
                    <a:extLst>
                      <a:ext uri="{FF2B5EF4-FFF2-40B4-BE49-F238E27FC236}">
                        <a16:creationId xmlns:a16="http://schemas.microsoft.com/office/drawing/2014/main" id="{CB627FB9-8A0F-AB86-DEAB-403459BF7EF4}"/>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UI" pitchFamily="34" charset="0"/>
                    </a:endParaRPr>
                  </a:p>
                </p:txBody>
              </p:sp>
            </p:grpSp>
            <p:pic>
              <p:nvPicPr>
                <p:cNvPr id="22" name="Graphic 21" descr="Lock with solid fill">
                  <a:extLst>
                    <a:ext uri="{FF2B5EF4-FFF2-40B4-BE49-F238E27FC236}">
                      <a16:creationId xmlns:a16="http://schemas.microsoft.com/office/drawing/2014/main" id="{08C735AB-25BD-6478-E0F4-366676EE1B5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1464" y="3120928"/>
                  <a:ext cx="371957" cy="353714"/>
                </a:xfrm>
                <a:prstGeom prst="rect">
                  <a:avLst/>
                </a:prstGeom>
              </p:spPr>
            </p:pic>
          </p:grpSp>
        </p:grpSp>
        <p:sp>
          <p:nvSpPr>
            <p:cNvPr id="23" name="TextBox 22">
              <a:extLst>
                <a:ext uri="{FF2B5EF4-FFF2-40B4-BE49-F238E27FC236}">
                  <a16:creationId xmlns:a16="http://schemas.microsoft.com/office/drawing/2014/main" id="{F7C686FA-D78F-75B3-8C53-2E68A6DD6E24}"/>
                </a:ext>
              </a:extLst>
            </p:cNvPr>
            <p:cNvSpPr txBox="1"/>
            <p:nvPr/>
          </p:nvSpPr>
          <p:spPr>
            <a:xfrm>
              <a:off x="7660037" y="2463240"/>
              <a:ext cx="1750571"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pc="-50">
                  <a:ln w="3175">
                    <a:noFill/>
                  </a:ln>
                  <a:latin typeface="Segoe UI Semibold" panose="020B0502040204020203" pitchFamily="34" charset="0"/>
                  <a:cs typeface="Segoe UI" pitchFamily="34" charset="0"/>
                </a:rPr>
                <a:t>Lakehouse</a:t>
              </a:r>
            </a:p>
          </p:txBody>
        </p:sp>
      </p:grpSp>
      <p:grpSp>
        <p:nvGrpSpPr>
          <p:cNvPr id="27" name="Group 26">
            <a:extLst>
              <a:ext uri="{FF2B5EF4-FFF2-40B4-BE49-F238E27FC236}">
                <a16:creationId xmlns:a16="http://schemas.microsoft.com/office/drawing/2014/main" id="{EDD5D407-0A24-0357-4E88-6B1D033CFCA3}"/>
              </a:ext>
            </a:extLst>
          </p:cNvPr>
          <p:cNvGrpSpPr/>
          <p:nvPr/>
        </p:nvGrpSpPr>
        <p:grpSpPr>
          <a:xfrm>
            <a:off x="10553638" y="2292171"/>
            <a:ext cx="703200" cy="672184"/>
            <a:chOff x="5665053" y="1608798"/>
            <a:chExt cx="1284113" cy="1322649"/>
          </a:xfrm>
        </p:grpSpPr>
        <p:pic>
          <p:nvPicPr>
            <p:cNvPr id="28" name="Graphic 27" descr="User with solid fill">
              <a:extLst>
                <a:ext uri="{FF2B5EF4-FFF2-40B4-BE49-F238E27FC236}">
                  <a16:creationId xmlns:a16="http://schemas.microsoft.com/office/drawing/2014/main" id="{8112C2AC-594F-8A28-72E6-26FEB59DDCA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45155" y="1608798"/>
              <a:ext cx="914400" cy="914400"/>
            </a:xfrm>
            <a:prstGeom prst="rect">
              <a:avLst/>
            </a:prstGeom>
          </p:spPr>
        </p:pic>
        <p:sp>
          <p:nvSpPr>
            <p:cNvPr id="29" name="TextBox 28">
              <a:extLst>
                <a:ext uri="{FF2B5EF4-FFF2-40B4-BE49-F238E27FC236}">
                  <a16:creationId xmlns:a16="http://schemas.microsoft.com/office/drawing/2014/main" id="{8E2E7896-79E0-6911-F98C-75DAB4E472EF}"/>
                </a:ext>
              </a:extLst>
            </p:cNvPr>
            <p:cNvSpPr txBox="1"/>
            <p:nvPr/>
          </p:nvSpPr>
          <p:spPr>
            <a:xfrm>
              <a:off x="5665053" y="2416563"/>
              <a:ext cx="1284113" cy="51488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a:latin typeface="Segoe UI"/>
                </a:rPr>
                <a:t>Business analysts</a:t>
              </a:r>
              <a:endParaRPr kumimoji="0" lang="en-US" sz="800" b="0" i="1" u="none" strike="noStrike" kern="1200" cap="none" spc="0" normalizeH="0" baseline="0" noProof="0">
                <a:ln>
                  <a:noFill/>
                </a:ln>
                <a:effectLst/>
                <a:uLnTx/>
                <a:uFillTx/>
                <a:latin typeface="Segoe UI"/>
                <a:ea typeface="+mn-ea"/>
                <a:cs typeface="+mn-cs"/>
              </a:endParaRPr>
            </a:p>
          </p:txBody>
        </p:sp>
      </p:grpSp>
      <p:grpSp>
        <p:nvGrpSpPr>
          <p:cNvPr id="30" name="Group 29">
            <a:extLst>
              <a:ext uri="{FF2B5EF4-FFF2-40B4-BE49-F238E27FC236}">
                <a16:creationId xmlns:a16="http://schemas.microsoft.com/office/drawing/2014/main" id="{4212CB8A-8DAA-674F-68E6-7FCDB7D4B34E}"/>
              </a:ext>
            </a:extLst>
          </p:cNvPr>
          <p:cNvGrpSpPr/>
          <p:nvPr/>
        </p:nvGrpSpPr>
        <p:grpSpPr>
          <a:xfrm>
            <a:off x="10553638" y="3070802"/>
            <a:ext cx="703200" cy="533626"/>
            <a:chOff x="5665053" y="1608798"/>
            <a:chExt cx="1284113" cy="1050010"/>
          </a:xfrm>
        </p:grpSpPr>
        <p:pic>
          <p:nvPicPr>
            <p:cNvPr id="31" name="Graphic 30" descr="User with solid fill">
              <a:extLst>
                <a:ext uri="{FF2B5EF4-FFF2-40B4-BE49-F238E27FC236}">
                  <a16:creationId xmlns:a16="http://schemas.microsoft.com/office/drawing/2014/main" id="{E62895B9-483D-1375-5746-E30BE9E106B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45155" y="1608798"/>
              <a:ext cx="914400" cy="914400"/>
            </a:xfrm>
            <a:prstGeom prst="rect">
              <a:avLst/>
            </a:prstGeom>
          </p:spPr>
        </p:pic>
        <p:sp>
          <p:nvSpPr>
            <p:cNvPr id="32" name="TextBox 31">
              <a:extLst>
                <a:ext uri="{FF2B5EF4-FFF2-40B4-BE49-F238E27FC236}">
                  <a16:creationId xmlns:a16="http://schemas.microsoft.com/office/drawing/2014/main" id="{EC82997F-E0F9-42EF-6BFB-0CC364758CDD}"/>
                </a:ext>
              </a:extLst>
            </p:cNvPr>
            <p:cNvSpPr txBox="1"/>
            <p:nvPr/>
          </p:nvSpPr>
          <p:spPr>
            <a:xfrm>
              <a:off x="5665053" y="2416564"/>
              <a:ext cx="1284113" cy="2422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effectLst/>
                  <a:uLnTx/>
                  <a:uFillTx/>
                  <a:latin typeface="Segoe UI"/>
                  <a:ea typeface="+mn-ea"/>
                  <a:cs typeface="+mn-cs"/>
                </a:rPr>
                <a:t>Data Sci</a:t>
              </a:r>
              <a:r>
                <a:rPr lang="en-US" sz="800" i="1" err="1">
                  <a:latin typeface="Segoe UI"/>
                </a:rPr>
                <a:t>entists</a:t>
              </a:r>
              <a:endParaRPr kumimoji="0" lang="en-US" sz="800" b="0" i="1" u="none" strike="noStrike" kern="1200" cap="none" spc="0" normalizeH="0" baseline="0" noProof="0">
                <a:ln>
                  <a:noFill/>
                </a:ln>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5888D82E-1044-9BEB-16B3-1421E4536C96}"/>
              </a:ext>
            </a:extLst>
          </p:cNvPr>
          <p:cNvGrpSpPr/>
          <p:nvPr/>
        </p:nvGrpSpPr>
        <p:grpSpPr>
          <a:xfrm>
            <a:off x="10575638" y="3735270"/>
            <a:ext cx="703200" cy="533626"/>
            <a:chOff x="5665053" y="1608798"/>
            <a:chExt cx="1284113" cy="1050010"/>
          </a:xfrm>
        </p:grpSpPr>
        <p:pic>
          <p:nvPicPr>
            <p:cNvPr id="38" name="Graphic 37" descr="User with solid fill">
              <a:extLst>
                <a:ext uri="{FF2B5EF4-FFF2-40B4-BE49-F238E27FC236}">
                  <a16:creationId xmlns:a16="http://schemas.microsoft.com/office/drawing/2014/main" id="{0D909CA4-3A77-49C4-D97E-C06062D4F3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45155" y="1608798"/>
              <a:ext cx="914400" cy="914400"/>
            </a:xfrm>
            <a:prstGeom prst="rect">
              <a:avLst/>
            </a:prstGeom>
          </p:spPr>
        </p:pic>
        <p:sp>
          <p:nvSpPr>
            <p:cNvPr id="39" name="TextBox 38">
              <a:extLst>
                <a:ext uri="{FF2B5EF4-FFF2-40B4-BE49-F238E27FC236}">
                  <a16:creationId xmlns:a16="http://schemas.microsoft.com/office/drawing/2014/main" id="{CC7EA27A-0728-3D94-AE9E-C6F3514E0D8A}"/>
                </a:ext>
              </a:extLst>
            </p:cNvPr>
            <p:cNvSpPr txBox="1"/>
            <p:nvPr/>
          </p:nvSpPr>
          <p:spPr>
            <a:xfrm>
              <a:off x="5665053" y="2416564"/>
              <a:ext cx="1284113" cy="2422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a:latin typeface="Segoe UI"/>
                </a:rPr>
                <a:t>Business user</a:t>
              </a:r>
              <a:endParaRPr kumimoji="0" lang="en-US" sz="800" b="0" i="1" u="none" strike="noStrike" kern="1200" cap="none" spc="0" normalizeH="0" baseline="0" noProof="0">
                <a:ln>
                  <a:noFill/>
                </a:ln>
                <a:effectLst/>
                <a:uLnTx/>
                <a:uFillTx/>
                <a:latin typeface="Segoe UI"/>
                <a:ea typeface="+mn-ea"/>
                <a:cs typeface="+mn-cs"/>
              </a:endParaRPr>
            </a:p>
          </p:txBody>
        </p:sp>
      </p:grpSp>
      <p:cxnSp>
        <p:nvCxnSpPr>
          <p:cNvPr id="40" name="Straight Arrow Connector 39">
            <a:extLst>
              <a:ext uri="{FF2B5EF4-FFF2-40B4-BE49-F238E27FC236}">
                <a16:creationId xmlns:a16="http://schemas.microsoft.com/office/drawing/2014/main" id="{1C2874BC-92FA-55BC-98BC-2785E34324AC}"/>
              </a:ext>
            </a:extLst>
          </p:cNvPr>
          <p:cNvCxnSpPr>
            <a:cxnSpLocks/>
            <a:stCxn id="15" idx="3"/>
            <a:endCxn id="29" idx="1"/>
          </p:cNvCxnSpPr>
          <p:nvPr/>
        </p:nvCxnSpPr>
        <p:spPr>
          <a:xfrm flipV="1">
            <a:off x="8800819" y="2833521"/>
            <a:ext cx="1752819" cy="432251"/>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BE96449-1CD0-C5D2-904F-865BD9815CE1}"/>
              </a:ext>
            </a:extLst>
          </p:cNvPr>
          <p:cNvCxnSpPr>
            <a:cxnSpLocks/>
            <a:endCxn id="32" idx="1"/>
          </p:cNvCxnSpPr>
          <p:nvPr/>
        </p:nvCxnSpPr>
        <p:spPr>
          <a:xfrm>
            <a:off x="8816883" y="3242963"/>
            <a:ext cx="1736755" cy="299910"/>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0D32B406-277F-1B37-823A-A2C29B8EFE03}"/>
              </a:ext>
            </a:extLst>
          </p:cNvPr>
          <p:cNvCxnSpPr>
            <a:cxnSpLocks/>
            <a:endCxn id="39" idx="1"/>
          </p:cNvCxnSpPr>
          <p:nvPr/>
        </p:nvCxnSpPr>
        <p:spPr>
          <a:xfrm>
            <a:off x="8811661" y="3242963"/>
            <a:ext cx="1763977" cy="964378"/>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 name="TextBox 57">
            <a:extLst>
              <a:ext uri="{FF2B5EF4-FFF2-40B4-BE49-F238E27FC236}">
                <a16:creationId xmlns:a16="http://schemas.microsoft.com/office/drawing/2014/main" id="{0C821209-0C2B-474C-674C-D2A179E8CFAC}"/>
              </a:ext>
            </a:extLst>
          </p:cNvPr>
          <p:cNvSpPr txBox="1"/>
          <p:nvPr/>
        </p:nvSpPr>
        <p:spPr>
          <a:xfrm>
            <a:off x="9685260" y="3316750"/>
            <a:ext cx="741167" cy="323165"/>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Spark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notebooks</a:t>
            </a:r>
          </a:p>
        </p:txBody>
      </p:sp>
      <p:sp>
        <p:nvSpPr>
          <p:cNvPr id="62" name="TextBox 61">
            <a:extLst>
              <a:ext uri="{FF2B5EF4-FFF2-40B4-BE49-F238E27FC236}">
                <a16:creationId xmlns:a16="http://schemas.microsoft.com/office/drawing/2014/main" id="{06D6B78D-6BD0-74A5-5500-9B1707A0071D}"/>
              </a:ext>
            </a:extLst>
          </p:cNvPr>
          <p:cNvSpPr txBox="1"/>
          <p:nvPr/>
        </p:nvSpPr>
        <p:spPr>
          <a:xfrm>
            <a:off x="9711143" y="3841870"/>
            <a:ext cx="741167" cy="161583"/>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Power BI</a:t>
            </a:r>
          </a:p>
        </p:txBody>
      </p:sp>
      <p:sp>
        <p:nvSpPr>
          <p:cNvPr id="65" name="TextBox 64">
            <a:extLst>
              <a:ext uri="{FF2B5EF4-FFF2-40B4-BE49-F238E27FC236}">
                <a16:creationId xmlns:a16="http://schemas.microsoft.com/office/drawing/2014/main" id="{6FC6D837-6A50-944B-756F-DF7A5E9964B2}"/>
              </a:ext>
            </a:extLst>
          </p:cNvPr>
          <p:cNvSpPr txBox="1"/>
          <p:nvPr/>
        </p:nvSpPr>
        <p:spPr>
          <a:xfrm>
            <a:off x="9599569" y="2802771"/>
            <a:ext cx="741167" cy="323165"/>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SQL Endpoint</a:t>
            </a:r>
          </a:p>
        </p:txBody>
      </p:sp>
      <p:sp>
        <p:nvSpPr>
          <p:cNvPr id="67" name="Left Brace 66">
            <a:extLst>
              <a:ext uri="{FF2B5EF4-FFF2-40B4-BE49-F238E27FC236}">
                <a16:creationId xmlns:a16="http://schemas.microsoft.com/office/drawing/2014/main" id="{A467337E-2EDD-266E-75A7-58A58B119BD0}"/>
              </a:ext>
            </a:extLst>
          </p:cNvPr>
          <p:cNvSpPr/>
          <p:nvPr/>
        </p:nvSpPr>
        <p:spPr>
          <a:xfrm rot="5400000">
            <a:off x="8131368" y="3350863"/>
            <a:ext cx="353862" cy="1342095"/>
          </a:xfrm>
          <a:prstGeom prst="lef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1" name="Picture 70">
            <a:extLst>
              <a:ext uri="{FF2B5EF4-FFF2-40B4-BE49-F238E27FC236}">
                <a16:creationId xmlns:a16="http://schemas.microsoft.com/office/drawing/2014/main" id="{6C14D805-FBF0-8967-D543-85A978FD0AAB}"/>
              </a:ext>
            </a:extLst>
          </p:cNvPr>
          <p:cNvPicPr>
            <a:picLocks noChangeAspect="1"/>
          </p:cNvPicPr>
          <p:nvPr/>
        </p:nvPicPr>
        <p:blipFill>
          <a:blip r:embed="rId13"/>
          <a:stretch>
            <a:fillRect/>
          </a:stretch>
        </p:blipFill>
        <p:spPr>
          <a:xfrm>
            <a:off x="7711304" y="4114759"/>
            <a:ext cx="1228897" cy="933581"/>
          </a:xfrm>
          <a:prstGeom prst="rect">
            <a:avLst/>
          </a:prstGeom>
        </p:spPr>
      </p:pic>
      <p:sp>
        <p:nvSpPr>
          <p:cNvPr id="72" name="TextBox 71">
            <a:extLst>
              <a:ext uri="{FF2B5EF4-FFF2-40B4-BE49-F238E27FC236}">
                <a16:creationId xmlns:a16="http://schemas.microsoft.com/office/drawing/2014/main" id="{631ACD1F-2BA7-78C7-8E05-3D733FE38DF3}"/>
              </a:ext>
            </a:extLst>
          </p:cNvPr>
          <p:cNvSpPr txBox="1"/>
          <p:nvPr/>
        </p:nvSpPr>
        <p:spPr>
          <a:xfrm>
            <a:off x="7564944" y="5153065"/>
            <a:ext cx="1521615" cy="161583"/>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Folder level Permissions</a:t>
            </a:r>
          </a:p>
        </p:txBody>
      </p:sp>
      <p:sp>
        <p:nvSpPr>
          <p:cNvPr id="76" name="TextBox 75">
            <a:extLst>
              <a:ext uri="{FF2B5EF4-FFF2-40B4-BE49-F238E27FC236}">
                <a16:creationId xmlns:a16="http://schemas.microsoft.com/office/drawing/2014/main" id="{670EA15A-9BB4-3D57-92E8-8C85FC6D81D1}"/>
              </a:ext>
            </a:extLst>
          </p:cNvPr>
          <p:cNvSpPr txBox="1"/>
          <p:nvPr/>
        </p:nvSpPr>
        <p:spPr>
          <a:xfrm>
            <a:off x="4119933" y="3040316"/>
            <a:ext cx="1763814" cy="430887"/>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Custom Application Applying Source ACLs</a:t>
            </a:r>
            <a:endParaRPr kumimoji="0" lang="en-US" sz="14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sp>
        <p:nvSpPr>
          <p:cNvPr id="77" name="Oval 76">
            <a:extLst>
              <a:ext uri="{FF2B5EF4-FFF2-40B4-BE49-F238E27FC236}">
                <a16:creationId xmlns:a16="http://schemas.microsoft.com/office/drawing/2014/main" id="{DD6C7DA5-391D-5B24-B364-89DB123D4DA0}"/>
              </a:ext>
            </a:extLst>
          </p:cNvPr>
          <p:cNvSpPr/>
          <p:nvPr/>
        </p:nvSpPr>
        <p:spPr>
          <a:xfrm>
            <a:off x="3820555" y="3106926"/>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3</a:t>
            </a:r>
          </a:p>
        </p:txBody>
      </p:sp>
      <p:grpSp>
        <p:nvGrpSpPr>
          <p:cNvPr id="78" name="Group 77">
            <a:extLst>
              <a:ext uri="{FF2B5EF4-FFF2-40B4-BE49-F238E27FC236}">
                <a16:creationId xmlns:a16="http://schemas.microsoft.com/office/drawing/2014/main" id="{A81A5D17-77FB-A13A-38B0-921686ACC579}"/>
              </a:ext>
            </a:extLst>
          </p:cNvPr>
          <p:cNvGrpSpPr/>
          <p:nvPr/>
        </p:nvGrpSpPr>
        <p:grpSpPr>
          <a:xfrm>
            <a:off x="1739690" y="3662739"/>
            <a:ext cx="318849" cy="467968"/>
            <a:chOff x="636895" y="4195016"/>
            <a:chExt cx="482613" cy="743608"/>
          </a:xfrm>
        </p:grpSpPr>
        <p:sp>
          <p:nvSpPr>
            <p:cNvPr id="79" name="Freeform: Shape 78">
              <a:extLst>
                <a:ext uri="{FF2B5EF4-FFF2-40B4-BE49-F238E27FC236}">
                  <a16:creationId xmlns:a16="http://schemas.microsoft.com/office/drawing/2014/main" id="{E979E35E-597D-96B1-8C3B-AEC4FEEDCD03}"/>
                </a:ext>
              </a:extLst>
            </p:cNvPr>
            <p:cNvSpPr/>
            <p:nvPr/>
          </p:nvSpPr>
          <p:spPr>
            <a:xfrm>
              <a:off x="636895" y="4195016"/>
              <a:ext cx="482613" cy="743608"/>
            </a:xfrm>
            <a:custGeom>
              <a:avLst/>
              <a:gdLst>
                <a:gd name="csX0" fmla="*/ 482613 w 482613"/>
                <a:gd name="csY0" fmla="*/ 718381 h 743608"/>
                <a:gd name="csX1" fmla="*/ 454770 w 482613"/>
                <a:gd name="csY1" fmla="*/ 743579 h 743608"/>
                <a:gd name="csX2" fmla="*/ 27843 w 482613"/>
                <a:gd name="csY2" fmla="*/ 743579 h 743608"/>
                <a:gd name="csX3" fmla="*/ 0 w 482613"/>
                <a:gd name="csY3" fmla="*/ 718381 h 743608"/>
                <a:gd name="csX4" fmla="*/ 0 w 482613"/>
                <a:gd name="csY4" fmla="*/ 25228 h 743608"/>
                <a:gd name="csX5" fmla="*/ 27750 w 482613"/>
                <a:gd name="csY5" fmla="*/ 30 h 743608"/>
                <a:gd name="csX6" fmla="*/ 454677 w 482613"/>
                <a:gd name="csY6" fmla="*/ 30 h 743608"/>
                <a:gd name="csX7" fmla="*/ 482520 w 482613"/>
                <a:gd name="csY7" fmla="*/ 25228 h 743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82613" h="743608">
                  <a:moveTo>
                    <a:pt x="482613" y="718381"/>
                  </a:moveTo>
                  <a:cubicBezTo>
                    <a:pt x="481838" y="733006"/>
                    <a:pt x="469400" y="744263"/>
                    <a:pt x="454770" y="743579"/>
                  </a:cubicBezTo>
                  <a:lnTo>
                    <a:pt x="27843" y="743579"/>
                  </a:lnTo>
                  <a:cubicBezTo>
                    <a:pt x="13213" y="744263"/>
                    <a:pt x="775" y="733006"/>
                    <a:pt x="0" y="718381"/>
                  </a:cubicBezTo>
                  <a:lnTo>
                    <a:pt x="0" y="25228"/>
                  </a:lnTo>
                  <a:cubicBezTo>
                    <a:pt x="775" y="10640"/>
                    <a:pt x="13155" y="-602"/>
                    <a:pt x="27750" y="30"/>
                  </a:cubicBezTo>
                  <a:lnTo>
                    <a:pt x="454677" y="30"/>
                  </a:lnTo>
                  <a:cubicBezTo>
                    <a:pt x="469308" y="-654"/>
                    <a:pt x="481745" y="10602"/>
                    <a:pt x="482520" y="25228"/>
                  </a:cubicBezTo>
                  <a:close/>
                </a:path>
              </a:pathLst>
            </a:custGeom>
            <a:gradFill>
              <a:gsLst>
                <a:gs pos="0">
                  <a:srgbClr val="B3B2B3"/>
                </a:gs>
                <a:gs pos="37500">
                  <a:srgbClr val="AFAEAF"/>
                </a:gs>
                <a:gs pos="76300">
                  <a:srgbClr val="A2A2A2"/>
                </a:gs>
                <a:gs pos="100000">
                  <a:srgbClr val="979797"/>
                </a:gs>
              </a:gsLst>
              <a:lin ang="5400000" scaled="1"/>
            </a:gradFill>
            <a:ln w="46038" cap="flat">
              <a:noFill/>
              <a:prstDash val="solid"/>
              <a:miter/>
            </a:ln>
          </p:spPr>
          <p:txBody>
            <a:bodyPr/>
            <a:lstStyle/>
            <a:p>
              <a:endParaRPr lang="en-US"/>
            </a:p>
          </p:txBody>
        </p:sp>
        <p:sp>
          <p:nvSpPr>
            <p:cNvPr id="80" name="Freeform: Shape 79">
              <a:extLst>
                <a:ext uri="{FF2B5EF4-FFF2-40B4-BE49-F238E27FC236}">
                  <a16:creationId xmlns:a16="http://schemas.microsoft.com/office/drawing/2014/main" id="{71307A06-8226-2074-ECE2-126F3A056D4D}"/>
                </a:ext>
              </a:extLst>
            </p:cNvPr>
            <p:cNvSpPr/>
            <p:nvPr/>
          </p:nvSpPr>
          <p:spPr>
            <a:xfrm>
              <a:off x="707642" y="4454915"/>
              <a:ext cx="345343" cy="116012"/>
            </a:xfrm>
            <a:custGeom>
              <a:avLst/>
              <a:gdLst>
                <a:gd name="csX0" fmla="*/ 68 w 345343"/>
                <a:gd name="csY0" fmla="*/ 58006 h 116012"/>
                <a:gd name="csX1" fmla="*/ 52552 w 345343"/>
                <a:gd name="csY1" fmla="*/ 0 h 116012"/>
                <a:gd name="csX2" fmla="*/ 292791 w 345343"/>
                <a:gd name="csY2" fmla="*/ 0 h 116012"/>
                <a:gd name="csX3" fmla="*/ 345276 w 345343"/>
                <a:gd name="csY3" fmla="*/ 58006 h 116012"/>
                <a:gd name="csX4" fmla="*/ 345276 w 345343"/>
                <a:gd name="csY4" fmla="*/ 58006 h 116012"/>
                <a:gd name="csX5" fmla="*/ 292791 w 345343"/>
                <a:gd name="csY5" fmla="*/ 116013 h 116012"/>
                <a:gd name="csX6" fmla="*/ 52552 w 345343"/>
                <a:gd name="csY6" fmla="*/ 116013 h 116012"/>
                <a:gd name="csX7" fmla="*/ 68 w 345343"/>
                <a:gd name="csY7" fmla="*/ 58006 h 116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5343" h="116012">
                  <a:moveTo>
                    <a:pt x="68" y="58006"/>
                  </a:moveTo>
                  <a:cubicBezTo>
                    <a:pt x="-1431" y="27505"/>
                    <a:pt x="22053" y="1550"/>
                    <a:pt x="52552" y="0"/>
                  </a:cubicBezTo>
                  <a:lnTo>
                    <a:pt x="292791" y="0"/>
                  </a:lnTo>
                  <a:cubicBezTo>
                    <a:pt x="323290" y="1550"/>
                    <a:pt x="346774" y="27505"/>
                    <a:pt x="345276" y="58006"/>
                  </a:cubicBezTo>
                  <a:lnTo>
                    <a:pt x="345276" y="58006"/>
                  </a:lnTo>
                  <a:cubicBezTo>
                    <a:pt x="346774" y="88508"/>
                    <a:pt x="323290" y="114462"/>
                    <a:pt x="292791" y="116013"/>
                  </a:cubicBezTo>
                  <a:lnTo>
                    <a:pt x="52552" y="116013"/>
                  </a:lnTo>
                  <a:cubicBezTo>
                    <a:pt x="22053" y="114462"/>
                    <a:pt x="-1431" y="88508"/>
                    <a:pt x="68" y="58006"/>
                  </a:cubicBezTo>
                  <a:close/>
                </a:path>
              </a:pathLst>
            </a:custGeom>
            <a:solidFill>
              <a:srgbClr val="003067"/>
            </a:solidFill>
            <a:ln w="46038" cap="flat">
              <a:noFill/>
              <a:prstDash val="solid"/>
              <a:miter/>
            </a:ln>
          </p:spPr>
          <p:txBody>
            <a:bodyPr/>
            <a:lstStyle/>
            <a:p>
              <a:endParaRPr lang="en-US"/>
            </a:p>
          </p:txBody>
        </p:sp>
        <p:sp>
          <p:nvSpPr>
            <p:cNvPr id="85" name="Freeform: Shape 84">
              <a:extLst>
                <a:ext uri="{FF2B5EF4-FFF2-40B4-BE49-F238E27FC236}">
                  <a16:creationId xmlns:a16="http://schemas.microsoft.com/office/drawing/2014/main" id="{4FECD377-A38A-D0C0-60A7-3B89664491F0}"/>
                </a:ext>
              </a:extLst>
            </p:cNvPr>
            <p:cNvSpPr/>
            <p:nvPr/>
          </p:nvSpPr>
          <p:spPr>
            <a:xfrm>
              <a:off x="707644" y="4283216"/>
              <a:ext cx="345338" cy="115780"/>
            </a:xfrm>
            <a:custGeom>
              <a:avLst/>
              <a:gdLst>
                <a:gd name="csX0" fmla="*/ 66 w 345338"/>
                <a:gd name="csY0" fmla="*/ 57960 h 115780"/>
                <a:gd name="csX1" fmla="*/ 52550 w 345338"/>
                <a:gd name="csY1" fmla="*/ 0 h 115780"/>
                <a:gd name="csX2" fmla="*/ 292789 w 345338"/>
                <a:gd name="csY2" fmla="*/ 0 h 115780"/>
                <a:gd name="csX3" fmla="*/ 345273 w 345338"/>
                <a:gd name="csY3" fmla="*/ 57960 h 115780"/>
                <a:gd name="csX4" fmla="*/ 345273 w 345338"/>
                <a:gd name="csY4" fmla="*/ 57960 h 115780"/>
                <a:gd name="csX5" fmla="*/ 292789 w 345338"/>
                <a:gd name="csY5" fmla="*/ 115781 h 115780"/>
                <a:gd name="csX6" fmla="*/ 52550 w 345338"/>
                <a:gd name="csY6" fmla="*/ 115781 h 115780"/>
                <a:gd name="csX7" fmla="*/ 66 w 345338"/>
                <a:gd name="csY7" fmla="*/ 57960 h 11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5338" h="115780">
                  <a:moveTo>
                    <a:pt x="66" y="57960"/>
                  </a:moveTo>
                  <a:cubicBezTo>
                    <a:pt x="-1406" y="27476"/>
                    <a:pt x="22070" y="1551"/>
                    <a:pt x="52550" y="0"/>
                  </a:cubicBezTo>
                  <a:lnTo>
                    <a:pt x="292789" y="0"/>
                  </a:lnTo>
                  <a:cubicBezTo>
                    <a:pt x="323269" y="1551"/>
                    <a:pt x="346745" y="27476"/>
                    <a:pt x="345273" y="57960"/>
                  </a:cubicBezTo>
                  <a:lnTo>
                    <a:pt x="345273" y="57960"/>
                  </a:lnTo>
                  <a:cubicBezTo>
                    <a:pt x="346666" y="88391"/>
                    <a:pt x="323212" y="114229"/>
                    <a:pt x="292789" y="115781"/>
                  </a:cubicBezTo>
                  <a:lnTo>
                    <a:pt x="52550" y="115781"/>
                  </a:lnTo>
                  <a:cubicBezTo>
                    <a:pt x="22127" y="114229"/>
                    <a:pt x="-1327" y="88391"/>
                    <a:pt x="66" y="57960"/>
                  </a:cubicBezTo>
                  <a:close/>
                </a:path>
              </a:pathLst>
            </a:custGeom>
            <a:solidFill>
              <a:srgbClr val="003067"/>
            </a:solidFill>
            <a:ln w="46038" cap="flat">
              <a:noFill/>
              <a:prstDash val="solid"/>
              <a:miter/>
            </a:ln>
          </p:spPr>
          <p:txBody>
            <a:bodyPr/>
            <a:lstStyle/>
            <a:p>
              <a:endParaRPr lang="en-US"/>
            </a:p>
          </p:txBody>
        </p:sp>
        <p:sp>
          <p:nvSpPr>
            <p:cNvPr id="86" name="Oval 85">
              <a:extLst>
                <a:ext uri="{FF2B5EF4-FFF2-40B4-BE49-F238E27FC236}">
                  <a16:creationId xmlns:a16="http://schemas.microsoft.com/office/drawing/2014/main" id="{61C9277B-3544-F257-D53E-3734FEE65192}"/>
                </a:ext>
              </a:extLst>
            </p:cNvPr>
            <p:cNvSpPr/>
            <p:nvPr/>
          </p:nvSpPr>
          <p:spPr>
            <a:xfrm>
              <a:off x="736481" y="4302381"/>
              <a:ext cx="77589" cy="77589"/>
            </a:xfrm>
            <a:prstGeom prst="ellipse">
              <a:avLst/>
            </a:prstGeom>
            <a:solidFill>
              <a:srgbClr val="50E6FF"/>
            </a:solidFill>
            <a:ln w="46038" cap="flat">
              <a:noFill/>
              <a:prstDash val="solid"/>
              <a:miter/>
            </a:ln>
          </p:spPr>
          <p:txBody>
            <a:bodyPr/>
            <a:lstStyle/>
            <a:p>
              <a:endParaRPr lang="en-US"/>
            </a:p>
          </p:txBody>
        </p:sp>
        <p:sp>
          <p:nvSpPr>
            <p:cNvPr id="87" name="Oval 86">
              <a:extLst>
                <a:ext uri="{FF2B5EF4-FFF2-40B4-BE49-F238E27FC236}">
                  <a16:creationId xmlns:a16="http://schemas.microsoft.com/office/drawing/2014/main" id="{0A069076-65C5-A327-234D-E9379DF8E710}"/>
                </a:ext>
              </a:extLst>
            </p:cNvPr>
            <p:cNvSpPr/>
            <p:nvPr/>
          </p:nvSpPr>
          <p:spPr>
            <a:xfrm>
              <a:off x="736481" y="4474126"/>
              <a:ext cx="77589" cy="77589"/>
            </a:xfrm>
            <a:prstGeom prst="ellipse">
              <a:avLst/>
            </a:prstGeom>
            <a:solidFill>
              <a:srgbClr val="50E6FF"/>
            </a:solidFill>
            <a:ln w="46038" cap="flat">
              <a:noFill/>
              <a:prstDash val="solid"/>
              <a:miter/>
            </a:ln>
          </p:spPr>
          <p:txBody>
            <a:bodyPr/>
            <a:lstStyle/>
            <a:p>
              <a:endParaRPr lang="en-US"/>
            </a:p>
          </p:txBody>
        </p:sp>
      </p:grpSp>
      <p:sp>
        <p:nvSpPr>
          <p:cNvPr id="88" name="Rounded Rectangle 14">
            <a:extLst>
              <a:ext uri="{FF2B5EF4-FFF2-40B4-BE49-F238E27FC236}">
                <a16:creationId xmlns:a16="http://schemas.microsoft.com/office/drawing/2014/main" id="{DDF55704-3DC1-7B0B-65DB-F8E4754CA824}"/>
              </a:ext>
              <a:ext uri="{C183D7F6-B498-43B3-948B-1728B52AA6E4}">
                <adec:decorative xmlns:adec="http://schemas.microsoft.com/office/drawing/2017/decorative" val="0"/>
              </a:ext>
            </a:extLst>
          </p:cNvPr>
          <p:cNvSpPr/>
          <p:nvPr/>
        </p:nvSpPr>
        <p:spPr>
          <a:xfrm>
            <a:off x="1281887" y="4184225"/>
            <a:ext cx="1225380" cy="461665"/>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Data Access R</a:t>
            </a:r>
            <a:r>
              <a:rPr lang="en-US" sz="1000">
                <a:solidFill>
                  <a:srgbClr val="0078D4">
                    <a:lumMod val="60000"/>
                    <a:lumOff val="40000"/>
                  </a:srgbClr>
                </a:solidFill>
                <a:latin typeface="Segoe Sans Text Semilight"/>
                <a:cs typeface="Segoe Sans Display Semibold" pitchFamily="2" charset="0"/>
              </a:rPr>
              <a:t>ole Custom Application/Container</a:t>
            </a:r>
            <a:endPar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endParaRPr>
          </a:p>
        </p:txBody>
      </p:sp>
      <p:cxnSp>
        <p:nvCxnSpPr>
          <p:cNvPr id="89" name="Straight Arrow Connector 88">
            <a:extLst>
              <a:ext uri="{FF2B5EF4-FFF2-40B4-BE49-F238E27FC236}">
                <a16:creationId xmlns:a16="http://schemas.microsoft.com/office/drawing/2014/main" id="{6BB6B25C-4ED4-0A4D-3389-7E46FDB1ABAB}"/>
              </a:ext>
            </a:extLst>
          </p:cNvPr>
          <p:cNvCxnSpPr>
            <a:cxnSpLocks/>
          </p:cNvCxnSpPr>
          <p:nvPr/>
        </p:nvCxnSpPr>
        <p:spPr>
          <a:xfrm flipV="1">
            <a:off x="1856745" y="3139755"/>
            <a:ext cx="0" cy="522984"/>
          </a:xfrm>
          <a:prstGeom prst="straightConnector1">
            <a:avLst/>
          </a:prstGeom>
          <a:ln>
            <a:headEnd type="none" w="lg" len="med"/>
            <a:tailEnd type="triangle"/>
          </a:ln>
        </p:spPr>
        <p:style>
          <a:lnRef idx="1">
            <a:schemeClr val="accent3"/>
          </a:lnRef>
          <a:fillRef idx="0">
            <a:schemeClr val="accent3"/>
          </a:fillRef>
          <a:effectRef idx="0">
            <a:schemeClr val="accent3"/>
          </a:effectRef>
          <a:fontRef idx="minor">
            <a:schemeClr val="tx1"/>
          </a:fontRef>
        </p:style>
      </p:cxnSp>
      <p:sp>
        <p:nvSpPr>
          <p:cNvPr id="92" name="Rounded Rectangle 14">
            <a:extLst>
              <a:ext uri="{FF2B5EF4-FFF2-40B4-BE49-F238E27FC236}">
                <a16:creationId xmlns:a16="http://schemas.microsoft.com/office/drawing/2014/main" id="{B25F22E0-A73C-E0B9-6A35-C2D307883A98}"/>
              </a:ext>
              <a:ext uri="{C183D7F6-B498-43B3-948B-1728B52AA6E4}">
                <adec:decorative xmlns:adec="http://schemas.microsoft.com/office/drawing/2017/decorative" val="0"/>
              </a:ext>
            </a:extLst>
          </p:cNvPr>
          <p:cNvSpPr/>
          <p:nvPr/>
        </p:nvSpPr>
        <p:spPr>
          <a:xfrm>
            <a:off x="1307724" y="3396799"/>
            <a:ext cx="1106980" cy="153888"/>
          </a:xfrm>
          <a:prstGeom prst="rect">
            <a:avLst/>
          </a:prstGeom>
          <a:solidFill>
            <a:schemeClr val="bg1"/>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Read ACLs</a:t>
            </a:r>
          </a:p>
        </p:txBody>
      </p:sp>
      <p:sp>
        <p:nvSpPr>
          <p:cNvPr id="93" name="Oval 92">
            <a:extLst>
              <a:ext uri="{FF2B5EF4-FFF2-40B4-BE49-F238E27FC236}">
                <a16:creationId xmlns:a16="http://schemas.microsoft.com/office/drawing/2014/main" id="{13FF67AD-728D-F244-31EA-4B980D9A633E}"/>
              </a:ext>
            </a:extLst>
          </p:cNvPr>
          <p:cNvSpPr/>
          <p:nvPr/>
        </p:nvSpPr>
        <p:spPr>
          <a:xfrm>
            <a:off x="3341257" y="6076199"/>
            <a:ext cx="322997" cy="322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4</a:t>
            </a:r>
          </a:p>
        </p:txBody>
      </p:sp>
      <p:sp>
        <p:nvSpPr>
          <p:cNvPr id="94" name="TextBox 93">
            <a:extLst>
              <a:ext uri="{FF2B5EF4-FFF2-40B4-BE49-F238E27FC236}">
                <a16:creationId xmlns:a16="http://schemas.microsoft.com/office/drawing/2014/main" id="{A37E7BF1-6991-9ABA-3BE2-C9D6C9E107D5}"/>
              </a:ext>
            </a:extLst>
          </p:cNvPr>
          <p:cNvSpPr txBox="1"/>
          <p:nvPr/>
        </p:nvSpPr>
        <p:spPr>
          <a:xfrm>
            <a:off x="3664254" y="5250227"/>
            <a:ext cx="3657884" cy="646331"/>
          </a:xfrm>
          <a:prstGeom prst="rect">
            <a:avLst/>
          </a:prstGeom>
          <a:noFill/>
        </p:spPr>
        <p:txBody>
          <a:bodyPr wrap="square" rtlCol="0">
            <a:spAutoFit/>
          </a:bodyPr>
          <a:lstStyle/>
          <a:p>
            <a:r>
              <a:rPr lang="en-US" sz="1200">
                <a:latin typeface="Segoe Sans Text" pitchFamily="2" charset="0"/>
                <a:cs typeface="Segoe Sans Text" pitchFamily="2" charset="0"/>
              </a:rPr>
              <a:t>Custom application reads ACLs from the </a:t>
            </a:r>
            <a:r>
              <a:rPr lang="en-US" sz="1200" err="1">
                <a:latin typeface="Segoe Sans Text" pitchFamily="2" charset="0"/>
                <a:cs typeface="Segoe Sans Text" pitchFamily="2" charset="0"/>
              </a:rPr>
              <a:t>Permissoins</a:t>
            </a:r>
            <a:r>
              <a:rPr lang="en-US" sz="1200">
                <a:latin typeface="Segoe Sans Text" pitchFamily="2" charset="0"/>
                <a:cs typeface="Segoe Sans Text" pitchFamily="2" charset="0"/>
              </a:rPr>
              <a:t> file and configures </a:t>
            </a:r>
            <a:r>
              <a:rPr lang="en-US" sz="1200" err="1">
                <a:latin typeface="Segoe Sans Text" pitchFamily="2" charset="0"/>
                <a:cs typeface="Segoe Sans Text" pitchFamily="2" charset="0"/>
              </a:rPr>
              <a:t>OneLake</a:t>
            </a:r>
            <a:r>
              <a:rPr lang="en-US" sz="1200">
                <a:latin typeface="Segoe Sans Text" pitchFamily="2" charset="0"/>
                <a:cs typeface="Segoe Sans Text" pitchFamily="2" charset="0"/>
              </a:rPr>
              <a:t> Data Access roles. Leverages Fabric Rest APIs. </a:t>
            </a:r>
          </a:p>
        </p:txBody>
      </p:sp>
      <p:sp>
        <p:nvSpPr>
          <p:cNvPr id="95" name="TextBox 94">
            <a:extLst>
              <a:ext uri="{FF2B5EF4-FFF2-40B4-BE49-F238E27FC236}">
                <a16:creationId xmlns:a16="http://schemas.microsoft.com/office/drawing/2014/main" id="{F3A03AE8-8E59-8960-0709-8986037CA68B}"/>
              </a:ext>
            </a:extLst>
          </p:cNvPr>
          <p:cNvSpPr txBox="1"/>
          <p:nvPr/>
        </p:nvSpPr>
        <p:spPr>
          <a:xfrm>
            <a:off x="446757" y="5990977"/>
            <a:ext cx="2854395" cy="461665"/>
          </a:xfrm>
          <a:prstGeom prst="rect">
            <a:avLst/>
          </a:prstGeom>
          <a:noFill/>
        </p:spPr>
        <p:txBody>
          <a:bodyPr wrap="square" rtlCol="0">
            <a:spAutoFit/>
          </a:bodyPr>
          <a:lstStyle/>
          <a:p>
            <a:r>
              <a:rPr lang="en-US" sz="1200">
                <a:latin typeface="Segoe Sans Text" pitchFamily="2" charset="0"/>
                <a:cs typeface="Segoe Sans Text" pitchFamily="2" charset="0"/>
              </a:rPr>
              <a:t>On-prem Sync for users &amp; groups into Entra Id</a:t>
            </a:r>
          </a:p>
        </p:txBody>
      </p:sp>
      <p:pic>
        <p:nvPicPr>
          <p:cNvPr id="4" name="Graphic 3">
            <a:extLst>
              <a:ext uri="{FF2B5EF4-FFF2-40B4-BE49-F238E27FC236}">
                <a16:creationId xmlns:a16="http://schemas.microsoft.com/office/drawing/2014/main" id="{86CD2E45-93DD-8765-7AFF-B425B596477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68114" y="2509446"/>
            <a:ext cx="420207" cy="420207"/>
          </a:xfrm>
          <a:prstGeom prst="rect">
            <a:avLst/>
          </a:prstGeom>
        </p:spPr>
      </p:pic>
    </p:spTree>
    <p:extLst>
      <p:ext uri="{BB962C8B-B14F-4D97-AF65-F5344CB8AC3E}">
        <p14:creationId xmlns:p14="http://schemas.microsoft.com/office/powerpoint/2010/main" val="20028517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a:t>One Lake Security and Permission Model</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4200" y="1436688"/>
            <a:ext cx="5219700" cy="430887"/>
          </a:xfrm>
        </p:spPr>
        <p:txBody>
          <a:bodyPr/>
          <a:lstStyle/>
          <a:p>
            <a:r>
              <a:rPr lang="en-US">
                <a:solidFill>
                  <a:schemeClr val="accent2"/>
                </a:solidFill>
              </a:rPr>
              <a:t>From SMB File Shares ACLs</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084388"/>
            <a:ext cx="5219700" cy="2659190"/>
          </a:xfrm>
        </p:spPr>
        <p:txBody>
          <a:bodyPr/>
          <a:lstStyle/>
          <a:p>
            <a:r>
              <a:rPr lang="en-US" sz="1600"/>
              <a:t>SMB file shares store the original data and enforce NTFS/ACL-based permissions.</a:t>
            </a:r>
          </a:p>
          <a:p>
            <a:r>
              <a:rPr lang="en-US" sz="1600"/>
              <a:t>A custom Data Access Role application reads ACLs from the Permissions File and configures </a:t>
            </a:r>
            <a:r>
              <a:rPr lang="en-US" sz="1600" err="1"/>
              <a:t>OneLake</a:t>
            </a:r>
            <a:r>
              <a:rPr lang="en-US" sz="1600"/>
              <a:t> Data Access roles.</a:t>
            </a:r>
          </a:p>
          <a:p>
            <a:r>
              <a:rPr lang="en-US" sz="1600"/>
              <a:t>Data access roles are pushed via Fabric </a:t>
            </a:r>
            <a:r>
              <a:rPr lang="en-US" sz="1600" err="1"/>
              <a:t>OneLake</a:t>
            </a:r>
            <a:r>
              <a:rPr lang="en-US" sz="1600"/>
              <a:t> Security REST APIs.</a:t>
            </a:r>
          </a:p>
          <a:p>
            <a:r>
              <a:rPr lang="en-US" sz="1600"/>
              <a:t>Roles are bound to Entra users and groups that were synchronized from on-prem AD.</a:t>
            </a:r>
          </a:p>
          <a:p>
            <a:endParaRPr lang="en-US" sz="1600"/>
          </a:p>
        </p:txBody>
      </p:sp>
      <p:sp>
        <p:nvSpPr>
          <p:cNvPr id="12" name="Text Placeholder 11">
            <a:extLst>
              <a:ext uri="{FF2B5EF4-FFF2-40B4-BE49-F238E27FC236}">
                <a16:creationId xmlns:a16="http://schemas.microsoft.com/office/drawing/2014/main" id="{3080DA2C-210D-4425-AD02-4BE53C4F28FA}"/>
              </a:ext>
            </a:extLst>
          </p:cNvPr>
          <p:cNvSpPr>
            <a:spLocks noGrp="1"/>
          </p:cNvSpPr>
          <p:nvPr>
            <p:ph type="body" sz="quarter" idx="17"/>
          </p:nvPr>
        </p:nvSpPr>
        <p:spPr>
          <a:xfrm>
            <a:off x="6397625" y="1436688"/>
            <a:ext cx="5219700" cy="430887"/>
          </a:xfrm>
        </p:spPr>
        <p:txBody>
          <a:bodyPr/>
          <a:lstStyle/>
          <a:p>
            <a:r>
              <a:rPr lang="en-US">
                <a:solidFill>
                  <a:schemeClr val="accent2"/>
                </a:solidFill>
              </a:rPr>
              <a:t>To OneLake Security ACLs</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5"/>
          </p:nvPr>
        </p:nvSpPr>
        <p:spPr>
          <a:xfrm>
            <a:off x="6397625" y="2084388"/>
            <a:ext cx="5219700" cy="3496342"/>
          </a:xfrm>
        </p:spPr>
        <p:txBody>
          <a:bodyPr/>
          <a:lstStyle/>
          <a:p>
            <a:r>
              <a:rPr lang="en-US" sz="1600"/>
              <a:t>Within Microsoft Fabric, OneLake Security manages data access roles for </a:t>
            </a:r>
            <a:r>
              <a:rPr lang="en-US" sz="1600" err="1"/>
              <a:t>lakehouse</a:t>
            </a:r>
            <a:r>
              <a:rPr lang="en-US" sz="1600"/>
              <a:t> items.</a:t>
            </a:r>
          </a:p>
          <a:p>
            <a:r>
              <a:rPr lang="en-US" sz="1600"/>
              <a:t>Roles are applied as folder-level permissions within the </a:t>
            </a:r>
            <a:r>
              <a:rPr lang="en-US" sz="1600" err="1"/>
              <a:t>lakehouse</a:t>
            </a:r>
            <a:r>
              <a:rPr lang="en-US" sz="1600"/>
              <a:t> 'Files' area.</a:t>
            </a:r>
          </a:p>
          <a:p>
            <a:r>
              <a:rPr lang="en-US" sz="1600"/>
              <a:t>Users authenticate with Microsoft Entra identities when accessing Fabric </a:t>
            </a:r>
            <a:r>
              <a:rPr lang="en-US" sz="1600" err="1"/>
              <a:t>lakehouses</a:t>
            </a:r>
            <a:r>
              <a:rPr lang="en-US" sz="1600"/>
              <a:t>.</a:t>
            </a:r>
          </a:p>
          <a:p>
            <a:r>
              <a:rPr lang="en-US" sz="1600"/>
              <a:t>OneLake evaluates the user’s data access roles for each folder and file request.</a:t>
            </a:r>
          </a:p>
          <a:p>
            <a:r>
              <a:rPr lang="en-US" sz="1600"/>
              <a:t>Only users with matching roles derived from on-prem ACLs can read or write the mapped folders.</a:t>
            </a:r>
          </a:p>
          <a:p>
            <a:r>
              <a:rPr lang="en-US" sz="1600"/>
              <a:t>Delivers end-to-end governance that mirrors on-prem permissions while enabling cloud analytics.</a:t>
            </a:r>
          </a:p>
          <a:p>
            <a:pPr marL="0" indent="0">
              <a:buNone/>
            </a:pPr>
            <a:endParaRPr lang="en-US" sz="1600"/>
          </a:p>
        </p:txBody>
      </p:sp>
    </p:spTree>
    <p:extLst>
      <p:ext uri="{BB962C8B-B14F-4D97-AF65-F5344CB8AC3E}">
        <p14:creationId xmlns:p14="http://schemas.microsoft.com/office/powerpoint/2010/main" val="36105846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6BD080-05E6-F755-101A-EC8B5A37812C}"/>
            </a:ext>
          </a:extLst>
        </p:cNvPr>
        <p:cNvGrpSpPr/>
        <p:nvPr/>
      </p:nvGrpSpPr>
      <p:grpSpPr>
        <a:xfrm>
          <a:off x="0" y="0"/>
          <a:ext cx="0" cy="0"/>
          <a:chOff x="0" y="0"/>
          <a:chExt cx="0" cy="0"/>
        </a:xfrm>
      </p:grpSpPr>
      <p:sp>
        <p:nvSpPr>
          <p:cNvPr id="2071" name="TextBox 2070">
            <a:extLst>
              <a:ext uri="{FF2B5EF4-FFF2-40B4-BE49-F238E27FC236}">
                <a16:creationId xmlns:a16="http://schemas.microsoft.com/office/drawing/2014/main" id="{9BD3739B-45DB-C006-5141-0D34C3FBDC20}"/>
              </a:ext>
            </a:extLst>
          </p:cNvPr>
          <p:cNvSpPr txBox="1"/>
          <p:nvPr/>
        </p:nvSpPr>
        <p:spPr>
          <a:xfrm>
            <a:off x="78264" y="135803"/>
            <a:ext cx="11057553" cy="646331"/>
          </a:xfrm>
          <a:prstGeom prst="rect">
            <a:avLst/>
          </a:prstGeom>
        </p:spPr>
        <p:txBody>
          <a:bodyPr vert="horz" wrap="square" lIns="0" tIns="0" rIns="0" bIns="0" rtlCol="0" anchor="t">
            <a:spAutoFit/>
          </a:bodyPr>
          <a:lstStyle>
            <a:lvl1pPr defTabSz="932742">
              <a:lnSpc>
                <a:spcPct val="100000"/>
              </a:lnSpc>
              <a:spcBef>
                <a:spcPct val="0"/>
              </a:spcBef>
              <a:buNone/>
              <a:defRPr lang="en-US" sz="3600" b="0" cap="none" spc="-50" baseline="0">
                <a:ln w="3175">
                  <a:noFill/>
                </a:ln>
                <a:effectLst/>
                <a:latin typeface="+mj-lt"/>
                <a:cs typeface="Segoe Sans Display" pitchFamily="2" charset="0"/>
              </a:defRPr>
            </a:lvl1pPr>
          </a:lstStyle>
          <a:p>
            <a:r>
              <a:rPr lang="en-US" err="1"/>
              <a:t>OneLake</a:t>
            </a:r>
            <a:r>
              <a:rPr lang="en-US"/>
              <a:t> Security Example</a:t>
            </a:r>
          </a:p>
        </p:txBody>
      </p:sp>
      <p:pic>
        <p:nvPicPr>
          <p:cNvPr id="14" name="Picture 13">
            <a:extLst>
              <a:ext uri="{FF2B5EF4-FFF2-40B4-BE49-F238E27FC236}">
                <a16:creationId xmlns:a16="http://schemas.microsoft.com/office/drawing/2014/main" id="{25B9E4B8-7682-C11F-AE13-B4F25C158415}"/>
              </a:ext>
            </a:extLst>
          </p:cNvPr>
          <p:cNvPicPr>
            <a:picLocks noChangeAspect="1"/>
          </p:cNvPicPr>
          <p:nvPr/>
        </p:nvPicPr>
        <p:blipFill>
          <a:blip r:embed="rId2"/>
          <a:stretch>
            <a:fillRect/>
          </a:stretch>
        </p:blipFill>
        <p:spPr>
          <a:xfrm>
            <a:off x="211676" y="1275446"/>
            <a:ext cx="5020376" cy="2172003"/>
          </a:xfrm>
          <a:prstGeom prst="rect">
            <a:avLst/>
          </a:prstGeom>
        </p:spPr>
      </p:pic>
      <p:sp>
        <p:nvSpPr>
          <p:cNvPr id="15" name="Rounded Rectangle 14">
            <a:extLst>
              <a:ext uri="{FF2B5EF4-FFF2-40B4-BE49-F238E27FC236}">
                <a16:creationId xmlns:a16="http://schemas.microsoft.com/office/drawing/2014/main" id="{FC9D1A16-51F9-D90A-5F3B-914D1110E2DD}"/>
              </a:ext>
              <a:ext uri="{C183D7F6-B498-43B3-948B-1728B52AA6E4}">
                <adec:decorative xmlns:adec="http://schemas.microsoft.com/office/drawing/2017/decorative" val="0"/>
              </a:ext>
            </a:extLst>
          </p:cNvPr>
          <p:cNvSpPr/>
          <p:nvPr/>
        </p:nvSpPr>
        <p:spPr>
          <a:xfrm>
            <a:off x="-335196" y="876806"/>
            <a:ext cx="9250596" cy="276999"/>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Department </a:t>
            </a:r>
            <a:r>
              <a:rPr lang="en-US">
                <a:solidFill>
                  <a:srgbClr val="0078D4">
                    <a:lumMod val="60000"/>
                    <a:lumOff val="40000"/>
                  </a:srgbClr>
                </a:solidFill>
                <a:latin typeface="Segoe Sans Text Semilight"/>
                <a:cs typeface="Segoe Sans Display Semibold" pitchFamily="2" charset="0"/>
              </a:rPr>
              <a:t>Data Owner can read a</a:t>
            </a:r>
            <a:r>
              <a:rPr kumimoji="0" lang="en-US" sz="1800" b="0" i="0" u="none" strike="noStrike" kern="1200" cap="none" spc="0" normalizeH="0" baseline="0" noProof="0" err="1">
                <a:ln>
                  <a:noFill/>
                </a:ln>
                <a:solidFill>
                  <a:srgbClr val="0078D4">
                    <a:lumMod val="60000"/>
                    <a:lumOff val="40000"/>
                  </a:srgbClr>
                </a:solidFill>
                <a:effectLst/>
                <a:uLnTx/>
                <a:uFillTx/>
                <a:latin typeface="Segoe Sans Text Semilight"/>
                <a:ea typeface="+mn-ea"/>
                <a:cs typeface="Segoe Sans Display Semibold" pitchFamily="2" charset="0"/>
              </a:rPr>
              <a:t>ll</a:t>
            </a:r>
            <a:r>
              <a:rPr kumimoji="0" lang="en-US" sz="18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 files in Fabric Lakehouse(</a:t>
            </a:r>
            <a:r>
              <a:rPr kumimoji="0" lang="en-US" sz="1800" b="0" i="0" u="none" strike="noStrike" kern="1200" cap="none" spc="0" normalizeH="0" baseline="0" noProof="0" err="1">
                <a:ln>
                  <a:noFill/>
                </a:ln>
                <a:solidFill>
                  <a:srgbClr val="0078D4">
                    <a:lumMod val="60000"/>
                    <a:lumOff val="40000"/>
                  </a:srgbClr>
                </a:solidFill>
                <a:effectLst/>
                <a:uLnTx/>
                <a:uFillTx/>
                <a:latin typeface="Segoe Sans Text Semilight"/>
                <a:ea typeface="+mn-ea"/>
                <a:cs typeface="Segoe Sans Display Semibold" pitchFamily="2" charset="0"/>
              </a:rPr>
              <a:t>OneLake</a:t>
            </a:r>
            <a:r>
              <a:rPr kumimoji="0" lang="en-US" sz="18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 Container</a:t>
            </a:r>
          </a:p>
        </p:txBody>
      </p:sp>
      <p:pic>
        <p:nvPicPr>
          <p:cNvPr id="17" name="Picture 16">
            <a:extLst>
              <a:ext uri="{FF2B5EF4-FFF2-40B4-BE49-F238E27FC236}">
                <a16:creationId xmlns:a16="http://schemas.microsoft.com/office/drawing/2014/main" id="{A6A75BA9-BD96-8629-799D-F1A210953177}"/>
              </a:ext>
            </a:extLst>
          </p:cNvPr>
          <p:cNvPicPr>
            <a:picLocks noChangeAspect="1"/>
          </p:cNvPicPr>
          <p:nvPr/>
        </p:nvPicPr>
        <p:blipFill>
          <a:blip r:embed="rId3"/>
          <a:stretch>
            <a:fillRect/>
          </a:stretch>
        </p:blipFill>
        <p:spPr>
          <a:xfrm>
            <a:off x="225921" y="4336391"/>
            <a:ext cx="5725228" cy="2172002"/>
          </a:xfrm>
          <a:prstGeom prst="rect">
            <a:avLst/>
          </a:prstGeom>
        </p:spPr>
      </p:pic>
      <p:sp>
        <p:nvSpPr>
          <p:cNvPr id="18" name="Rounded Rectangle 14">
            <a:extLst>
              <a:ext uri="{FF2B5EF4-FFF2-40B4-BE49-F238E27FC236}">
                <a16:creationId xmlns:a16="http://schemas.microsoft.com/office/drawing/2014/main" id="{5E5DA3C1-2248-0031-35E8-0AAF780062F9}"/>
              </a:ext>
              <a:ext uri="{C183D7F6-B498-43B3-948B-1728B52AA6E4}">
                <adec:decorative xmlns:adec="http://schemas.microsoft.com/office/drawing/2017/decorative" val="0"/>
              </a:ext>
            </a:extLst>
          </p:cNvPr>
          <p:cNvSpPr/>
          <p:nvPr/>
        </p:nvSpPr>
        <p:spPr>
          <a:xfrm>
            <a:off x="-123375" y="3913793"/>
            <a:ext cx="9399260" cy="276999"/>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Dat</a:t>
            </a:r>
            <a:r>
              <a:rPr lang="en-US">
                <a:solidFill>
                  <a:srgbClr val="0078D4">
                    <a:lumMod val="60000"/>
                    <a:lumOff val="40000"/>
                  </a:srgbClr>
                </a:solidFill>
                <a:latin typeface="Segoe Sans Text Semilight"/>
                <a:cs typeface="Segoe Sans Display Semibold" pitchFamily="2" charset="0"/>
              </a:rPr>
              <a:t>a Scientist </a:t>
            </a:r>
            <a:r>
              <a:rPr kumimoji="0" lang="en-US" sz="18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sees only the files he/she has access to according to on-prem permissions </a:t>
            </a:r>
          </a:p>
        </p:txBody>
      </p:sp>
    </p:spTree>
    <p:extLst>
      <p:ext uri="{BB962C8B-B14F-4D97-AF65-F5344CB8AC3E}">
        <p14:creationId xmlns:p14="http://schemas.microsoft.com/office/powerpoint/2010/main" val="34625354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B89B-8328-C280-B42F-DABF6901A262}"/>
              </a:ext>
            </a:extLst>
          </p:cNvPr>
          <p:cNvSpPr>
            <a:spLocks noGrp="1"/>
          </p:cNvSpPr>
          <p:nvPr>
            <p:ph type="title"/>
          </p:nvPr>
        </p:nvSpPr>
        <p:spPr/>
        <p:txBody>
          <a:bodyPr/>
          <a:lstStyle/>
          <a:p>
            <a:r>
              <a:rPr lang="en-US">
                <a:cs typeface="Segoe Sans Display"/>
              </a:rPr>
              <a:t>Data Governance with Purview</a:t>
            </a:r>
            <a:endParaRPr lang="en-US"/>
          </a:p>
        </p:txBody>
      </p:sp>
      <p:sp>
        <p:nvSpPr>
          <p:cNvPr id="14" name="Rectangle: Top Corners Rounded 125">
            <a:extLst>
              <a:ext uri="{FF2B5EF4-FFF2-40B4-BE49-F238E27FC236}">
                <a16:creationId xmlns:a16="http://schemas.microsoft.com/office/drawing/2014/main" id="{20032237-019A-8B96-6898-39B04CFF1742}"/>
              </a:ext>
              <a:ext uri="{C183D7F6-B498-43B3-948B-1728B52AA6E4}">
                <adec:decorative xmlns:adec="http://schemas.microsoft.com/office/drawing/2017/decorative" val="1"/>
              </a:ext>
            </a:extLst>
          </p:cNvPr>
          <p:cNvSpPr/>
          <p:nvPr/>
        </p:nvSpPr>
        <p:spPr bwMode="auto">
          <a:xfrm>
            <a:off x="948037" y="1803074"/>
            <a:ext cx="2096607" cy="4351541"/>
          </a:xfrm>
          <a:prstGeom prst="roundRect">
            <a:avLst>
              <a:gd name="adj" fmla="val 5046"/>
            </a:avLst>
          </a:prstGeom>
          <a:solidFill>
            <a:srgbClr val="FFFFFF"/>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grpSp>
        <p:nvGrpSpPr>
          <p:cNvPr id="15" name="Group 14">
            <a:extLst>
              <a:ext uri="{FF2B5EF4-FFF2-40B4-BE49-F238E27FC236}">
                <a16:creationId xmlns:a16="http://schemas.microsoft.com/office/drawing/2014/main" id="{F85F6C07-8DA7-74CC-C7F1-66489EAA16FE}"/>
              </a:ext>
            </a:extLst>
          </p:cNvPr>
          <p:cNvGrpSpPr/>
          <p:nvPr/>
        </p:nvGrpSpPr>
        <p:grpSpPr>
          <a:xfrm>
            <a:off x="1347432" y="1925809"/>
            <a:ext cx="1106980" cy="813482"/>
            <a:chOff x="448679" y="1837983"/>
            <a:chExt cx="1106980" cy="813482"/>
          </a:xfrm>
        </p:grpSpPr>
        <p:sp>
          <p:nvSpPr>
            <p:cNvPr id="16" name="Rounded Rectangle 14">
              <a:extLst>
                <a:ext uri="{FF2B5EF4-FFF2-40B4-BE49-F238E27FC236}">
                  <a16:creationId xmlns:a16="http://schemas.microsoft.com/office/drawing/2014/main" id="{26416CCB-6022-515A-F40F-162A5BC756C5}"/>
                </a:ext>
                <a:ext uri="{C183D7F6-B498-43B3-948B-1728B52AA6E4}">
                  <adec:decorative xmlns:adec="http://schemas.microsoft.com/office/drawing/2017/decorative" val="0"/>
                </a:ext>
              </a:extLst>
            </p:cNvPr>
            <p:cNvSpPr/>
            <p:nvPr/>
          </p:nvSpPr>
          <p:spPr>
            <a:xfrm>
              <a:off x="448679" y="2343688"/>
              <a:ext cx="11069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AD Domain Controller</a:t>
              </a:r>
            </a:p>
          </p:txBody>
        </p:sp>
        <p:pic>
          <p:nvPicPr>
            <p:cNvPr id="17" name="Graphic 16">
              <a:extLst>
                <a:ext uri="{FF2B5EF4-FFF2-40B4-BE49-F238E27FC236}">
                  <a16:creationId xmlns:a16="http://schemas.microsoft.com/office/drawing/2014/main" id="{C0203EE6-AEEB-FB04-27C8-1EE8A8200EA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843" y="1837983"/>
              <a:ext cx="446661" cy="446661"/>
            </a:xfrm>
            <a:prstGeom prst="rect">
              <a:avLst/>
            </a:prstGeom>
          </p:spPr>
        </p:pic>
      </p:grpSp>
      <p:sp>
        <p:nvSpPr>
          <p:cNvPr id="19" name="Rounded Rectangle 14">
            <a:extLst>
              <a:ext uri="{FF2B5EF4-FFF2-40B4-BE49-F238E27FC236}">
                <a16:creationId xmlns:a16="http://schemas.microsoft.com/office/drawing/2014/main" id="{8AC0EB4F-7FC7-B760-9A32-FDD6BE7B5FA4}"/>
              </a:ext>
              <a:ext uri="{C183D7F6-B498-43B3-948B-1728B52AA6E4}">
                <adec:decorative xmlns:adec="http://schemas.microsoft.com/office/drawing/2017/decorative" val="0"/>
              </a:ext>
            </a:extLst>
          </p:cNvPr>
          <p:cNvSpPr/>
          <p:nvPr/>
        </p:nvSpPr>
        <p:spPr>
          <a:xfrm>
            <a:off x="906605" y="3365813"/>
            <a:ext cx="1106980"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SMB File Shares</a:t>
            </a:r>
          </a:p>
        </p:txBody>
      </p:sp>
      <p:pic>
        <p:nvPicPr>
          <p:cNvPr id="20" name="Graphic 19">
            <a:extLst>
              <a:ext uri="{FF2B5EF4-FFF2-40B4-BE49-F238E27FC236}">
                <a16:creationId xmlns:a16="http://schemas.microsoft.com/office/drawing/2014/main" id="{01855153-86C5-2FCA-9545-C957983A91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1067" y="2820188"/>
            <a:ext cx="572730" cy="572730"/>
          </a:xfrm>
          <a:prstGeom prst="rect">
            <a:avLst/>
          </a:prstGeom>
        </p:spPr>
      </p:pic>
      <p:sp>
        <p:nvSpPr>
          <p:cNvPr id="21" name="Rectangle: Top Corners Rounded 125">
            <a:extLst>
              <a:ext uri="{FF2B5EF4-FFF2-40B4-BE49-F238E27FC236}">
                <a16:creationId xmlns:a16="http://schemas.microsoft.com/office/drawing/2014/main" id="{80182574-B065-35F6-AA89-62C428DE156D}"/>
              </a:ext>
              <a:ext uri="{C183D7F6-B498-43B3-948B-1728B52AA6E4}">
                <adec:decorative xmlns:adec="http://schemas.microsoft.com/office/drawing/2017/decorative" val="1"/>
              </a:ext>
            </a:extLst>
          </p:cNvPr>
          <p:cNvSpPr/>
          <p:nvPr/>
        </p:nvSpPr>
        <p:spPr bwMode="auto">
          <a:xfrm>
            <a:off x="7439244" y="1697477"/>
            <a:ext cx="4107560" cy="4457138"/>
          </a:xfrm>
          <a:prstGeom prst="roundRect">
            <a:avLst>
              <a:gd name="adj" fmla="val 5046"/>
            </a:avLst>
          </a:prstGeom>
          <a:solidFill>
            <a:schemeClr val="bg1"/>
          </a:solidFill>
          <a:ln w="28575">
            <a:gradFill flip="none" rotWithShape="1">
              <a:gsLst>
                <a:gs pos="0">
                  <a:schemeClr val="accent2"/>
                </a:gs>
                <a:gs pos="100000">
                  <a:schemeClr val="accent4"/>
                </a:gs>
              </a:gsLst>
              <a:lin ang="135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sp>
        <p:nvSpPr>
          <p:cNvPr id="25" name="Rectangle: Rounded Corners 6">
            <a:extLst>
              <a:ext uri="{FF2B5EF4-FFF2-40B4-BE49-F238E27FC236}">
                <a16:creationId xmlns:a16="http://schemas.microsoft.com/office/drawing/2014/main" id="{307453C1-9CB6-B375-5023-E57C2207B0D7}"/>
              </a:ext>
              <a:ext uri="{C183D7F6-B498-43B3-948B-1728B52AA6E4}">
                <adec:decorative xmlns:adec="http://schemas.microsoft.com/office/drawing/2017/decorative" val="1"/>
              </a:ext>
            </a:extLst>
          </p:cNvPr>
          <p:cNvSpPr/>
          <p:nvPr/>
        </p:nvSpPr>
        <p:spPr>
          <a:xfrm>
            <a:off x="7499878" y="2295440"/>
            <a:ext cx="3912285" cy="3639843"/>
          </a:xfrm>
          <a:prstGeom prst="roundRect">
            <a:avLst>
              <a:gd name="adj" fmla="val 5644"/>
            </a:avLst>
          </a:prstGeom>
          <a:solidFill>
            <a:schemeClr val="bg1"/>
          </a:solidFill>
          <a:ln w="12700" cap="rnd">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algn="ctr" defTabSz="811670">
              <a:spcBef>
                <a:spcPts val="174"/>
              </a:spcBef>
            </a:pPr>
            <a:endParaRPr lang="en-US" sz="1400">
              <a:gradFill>
                <a:gsLst>
                  <a:gs pos="41958">
                    <a:srgbClr val="FFFFFF"/>
                  </a:gs>
                  <a:gs pos="63000">
                    <a:srgbClr val="FFFFFF"/>
                  </a:gs>
                </a:gsLst>
                <a:lin ang="0" scaled="0"/>
              </a:gradFill>
              <a:latin typeface="Segoe UI" panose="020B0502040204020203" pitchFamily="34" charset="0"/>
              <a:cs typeface="Segoe UI" panose="020B0502040204020203" pitchFamily="34" charset="0"/>
            </a:endParaRPr>
          </a:p>
        </p:txBody>
      </p:sp>
      <p:cxnSp>
        <p:nvCxnSpPr>
          <p:cNvPr id="26" name="Straight Arrow Connector 25">
            <a:extLst>
              <a:ext uri="{FF2B5EF4-FFF2-40B4-BE49-F238E27FC236}">
                <a16:creationId xmlns:a16="http://schemas.microsoft.com/office/drawing/2014/main" id="{8F40F328-5B50-DD34-BE34-37090007680C}"/>
              </a:ext>
            </a:extLst>
          </p:cNvPr>
          <p:cNvCxnSpPr>
            <a:cxnSpLocks/>
          </p:cNvCxnSpPr>
          <p:nvPr/>
        </p:nvCxnSpPr>
        <p:spPr>
          <a:xfrm>
            <a:off x="2167094" y="4597541"/>
            <a:ext cx="5272150" cy="0"/>
          </a:xfrm>
          <a:prstGeom prst="straightConnector1">
            <a:avLst/>
          </a:prstGeom>
          <a:ln w="19050" cap="flat" cmpd="sng" algn="ctr">
            <a:solidFill>
              <a:schemeClr val="accent3"/>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5" name="Group 34">
            <a:extLst>
              <a:ext uri="{FF2B5EF4-FFF2-40B4-BE49-F238E27FC236}">
                <a16:creationId xmlns:a16="http://schemas.microsoft.com/office/drawing/2014/main" id="{B84A5291-4E47-3E7D-B999-4B7B2AE7D60B}"/>
              </a:ext>
            </a:extLst>
          </p:cNvPr>
          <p:cNvGrpSpPr/>
          <p:nvPr/>
        </p:nvGrpSpPr>
        <p:grpSpPr>
          <a:xfrm>
            <a:off x="7411988" y="3157320"/>
            <a:ext cx="1750571" cy="1047255"/>
            <a:chOff x="7660037" y="2381745"/>
            <a:chExt cx="1750571" cy="1047255"/>
          </a:xfrm>
        </p:grpSpPr>
        <p:sp>
          <p:nvSpPr>
            <p:cNvPr id="38" name="Rectangle: Rounded Corners 37">
              <a:extLst>
                <a:ext uri="{FF2B5EF4-FFF2-40B4-BE49-F238E27FC236}">
                  <a16:creationId xmlns:a16="http://schemas.microsoft.com/office/drawing/2014/main" id="{79C3780C-8E06-564B-0EEB-37F23204FB79}"/>
                </a:ext>
              </a:extLst>
            </p:cNvPr>
            <p:cNvSpPr/>
            <p:nvPr/>
          </p:nvSpPr>
          <p:spPr>
            <a:xfrm>
              <a:off x="8006572" y="2381745"/>
              <a:ext cx="1057500" cy="104725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CDFD7DD-D997-7A87-7298-C64AA687D73C}"/>
                </a:ext>
              </a:extLst>
            </p:cNvPr>
            <p:cNvSpPr txBox="1"/>
            <p:nvPr/>
          </p:nvSpPr>
          <p:spPr>
            <a:xfrm>
              <a:off x="7660037" y="2463240"/>
              <a:ext cx="1750571"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pc="-50">
                  <a:ln w="3175">
                    <a:noFill/>
                  </a:ln>
                  <a:latin typeface="Segoe UI Semibold" panose="020B0502040204020203" pitchFamily="34" charset="0"/>
                  <a:cs typeface="Segoe UI" pitchFamily="34" charset="0"/>
                </a:rPr>
                <a:t>Unified Catalog</a:t>
              </a:r>
            </a:p>
          </p:txBody>
        </p:sp>
      </p:grpSp>
      <p:grpSp>
        <p:nvGrpSpPr>
          <p:cNvPr id="44" name="Group 43">
            <a:extLst>
              <a:ext uri="{FF2B5EF4-FFF2-40B4-BE49-F238E27FC236}">
                <a16:creationId xmlns:a16="http://schemas.microsoft.com/office/drawing/2014/main" id="{CC54EE02-FB3D-7F33-9A0E-7B679CE7BEE4}"/>
              </a:ext>
            </a:extLst>
          </p:cNvPr>
          <p:cNvGrpSpPr/>
          <p:nvPr/>
        </p:nvGrpSpPr>
        <p:grpSpPr>
          <a:xfrm>
            <a:off x="10568842" y="2707347"/>
            <a:ext cx="703200" cy="533626"/>
            <a:chOff x="5665053" y="1608798"/>
            <a:chExt cx="1284113" cy="1050010"/>
          </a:xfrm>
        </p:grpSpPr>
        <p:pic>
          <p:nvPicPr>
            <p:cNvPr id="45" name="Graphic 44" descr="User with solid fill">
              <a:extLst>
                <a:ext uri="{FF2B5EF4-FFF2-40B4-BE49-F238E27FC236}">
                  <a16:creationId xmlns:a16="http://schemas.microsoft.com/office/drawing/2014/main" id="{8B41ADAC-CE21-6D57-E517-9AF32A8631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5155" y="1608798"/>
              <a:ext cx="914400" cy="914400"/>
            </a:xfrm>
            <a:prstGeom prst="rect">
              <a:avLst/>
            </a:prstGeom>
          </p:spPr>
        </p:pic>
        <p:sp>
          <p:nvSpPr>
            <p:cNvPr id="46" name="TextBox 45">
              <a:extLst>
                <a:ext uri="{FF2B5EF4-FFF2-40B4-BE49-F238E27FC236}">
                  <a16:creationId xmlns:a16="http://schemas.microsoft.com/office/drawing/2014/main" id="{CD1674A6-6870-C9A1-A59B-4357CEFB8030}"/>
                </a:ext>
              </a:extLst>
            </p:cNvPr>
            <p:cNvSpPr txBox="1"/>
            <p:nvPr/>
          </p:nvSpPr>
          <p:spPr>
            <a:xfrm>
              <a:off x="5665053" y="2416564"/>
              <a:ext cx="1284113" cy="2422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a:latin typeface="Segoe UI"/>
                </a:rPr>
                <a:t>Data Owner</a:t>
              </a:r>
              <a:endParaRPr kumimoji="0" lang="en-US" sz="800" b="0" i="1" u="none" strike="noStrike" kern="1200" cap="none" spc="0" normalizeH="0" baseline="0" noProof="0">
                <a:ln>
                  <a:noFill/>
                </a:ln>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678D0933-E474-655D-BE4C-F98D790ADF6E}"/>
              </a:ext>
            </a:extLst>
          </p:cNvPr>
          <p:cNvGrpSpPr/>
          <p:nvPr/>
        </p:nvGrpSpPr>
        <p:grpSpPr>
          <a:xfrm>
            <a:off x="10568842" y="3485978"/>
            <a:ext cx="703200" cy="533626"/>
            <a:chOff x="5665053" y="1608798"/>
            <a:chExt cx="1284113" cy="1050010"/>
          </a:xfrm>
        </p:grpSpPr>
        <p:pic>
          <p:nvPicPr>
            <p:cNvPr id="48" name="Graphic 47" descr="User with solid fill">
              <a:extLst>
                <a:ext uri="{FF2B5EF4-FFF2-40B4-BE49-F238E27FC236}">
                  <a16:creationId xmlns:a16="http://schemas.microsoft.com/office/drawing/2014/main" id="{74429285-E57A-3EF5-EBE1-ED94AFF82D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5155" y="1608798"/>
              <a:ext cx="914400" cy="914400"/>
            </a:xfrm>
            <a:prstGeom prst="rect">
              <a:avLst/>
            </a:prstGeom>
          </p:spPr>
        </p:pic>
        <p:sp>
          <p:nvSpPr>
            <p:cNvPr id="49" name="TextBox 48">
              <a:extLst>
                <a:ext uri="{FF2B5EF4-FFF2-40B4-BE49-F238E27FC236}">
                  <a16:creationId xmlns:a16="http://schemas.microsoft.com/office/drawing/2014/main" id="{E27E3D1B-C8E0-3B24-EBC1-758C8DC4D5A5}"/>
                </a:ext>
              </a:extLst>
            </p:cNvPr>
            <p:cNvSpPr txBox="1"/>
            <p:nvPr/>
          </p:nvSpPr>
          <p:spPr>
            <a:xfrm>
              <a:off x="5665053" y="2416564"/>
              <a:ext cx="1284113" cy="2422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effectLst/>
                  <a:uLnTx/>
                  <a:uFillTx/>
                  <a:latin typeface="Segoe UI"/>
                  <a:ea typeface="+mn-ea"/>
                  <a:cs typeface="+mn-cs"/>
                </a:rPr>
                <a:t>Data SMEs</a:t>
              </a:r>
            </a:p>
          </p:txBody>
        </p:sp>
      </p:grpSp>
      <p:grpSp>
        <p:nvGrpSpPr>
          <p:cNvPr id="50" name="Group 49">
            <a:extLst>
              <a:ext uri="{FF2B5EF4-FFF2-40B4-BE49-F238E27FC236}">
                <a16:creationId xmlns:a16="http://schemas.microsoft.com/office/drawing/2014/main" id="{540D7A11-356D-7D66-107A-E7E9BE874471}"/>
              </a:ext>
            </a:extLst>
          </p:cNvPr>
          <p:cNvGrpSpPr/>
          <p:nvPr/>
        </p:nvGrpSpPr>
        <p:grpSpPr>
          <a:xfrm>
            <a:off x="10590842" y="4150446"/>
            <a:ext cx="703200" cy="533626"/>
            <a:chOff x="5665053" y="1608798"/>
            <a:chExt cx="1284113" cy="1050010"/>
          </a:xfrm>
        </p:grpSpPr>
        <p:pic>
          <p:nvPicPr>
            <p:cNvPr id="51" name="Graphic 50" descr="User with solid fill">
              <a:extLst>
                <a:ext uri="{FF2B5EF4-FFF2-40B4-BE49-F238E27FC236}">
                  <a16:creationId xmlns:a16="http://schemas.microsoft.com/office/drawing/2014/main" id="{DE072A25-BD11-F9C8-A14E-0D4E7E40178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5155" y="1608798"/>
              <a:ext cx="914400" cy="914400"/>
            </a:xfrm>
            <a:prstGeom prst="rect">
              <a:avLst/>
            </a:prstGeom>
          </p:spPr>
        </p:pic>
        <p:sp>
          <p:nvSpPr>
            <p:cNvPr id="52" name="TextBox 51">
              <a:extLst>
                <a:ext uri="{FF2B5EF4-FFF2-40B4-BE49-F238E27FC236}">
                  <a16:creationId xmlns:a16="http://schemas.microsoft.com/office/drawing/2014/main" id="{982B4BAF-C76A-4627-8C8D-ACCB7F1F77C0}"/>
                </a:ext>
              </a:extLst>
            </p:cNvPr>
            <p:cNvSpPr txBox="1"/>
            <p:nvPr/>
          </p:nvSpPr>
          <p:spPr>
            <a:xfrm>
              <a:off x="5665053" y="2416564"/>
              <a:ext cx="1284113" cy="2422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a:latin typeface="Segoe UI"/>
                </a:rPr>
                <a:t>Business user</a:t>
              </a:r>
              <a:endParaRPr kumimoji="0" lang="en-US" sz="800" b="0" i="1" u="none" strike="noStrike" kern="1200" cap="none" spc="0" normalizeH="0" baseline="0" noProof="0">
                <a:ln>
                  <a:noFill/>
                </a:ln>
                <a:effectLst/>
                <a:uLnTx/>
                <a:uFillTx/>
                <a:latin typeface="Segoe UI"/>
                <a:ea typeface="+mn-ea"/>
                <a:cs typeface="+mn-cs"/>
              </a:endParaRPr>
            </a:p>
          </p:txBody>
        </p:sp>
      </p:grpSp>
      <p:cxnSp>
        <p:nvCxnSpPr>
          <p:cNvPr id="53" name="Straight Arrow Connector 52">
            <a:extLst>
              <a:ext uri="{FF2B5EF4-FFF2-40B4-BE49-F238E27FC236}">
                <a16:creationId xmlns:a16="http://schemas.microsoft.com/office/drawing/2014/main" id="{4D7A7A9B-9FDB-C062-A00B-CDCB7B4A19F4}"/>
              </a:ext>
            </a:extLst>
          </p:cNvPr>
          <p:cNvCxnSpPr>
            <a:cxnSpLocks/>
            <a:stCxn id="38" idx="3"/>
            <a:endCxn id="46" idx="1"/>
          </p:cNvCxnSpPr>
          <p:nvPr/>
        </p:nvCxnSpPr>
        <p:spPr>
          <a:xfrm flipV="1">
            <a:off x="8816023" y="3179418"/>
            <a:ext cx="1752819" cy="501530"/>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18AB1BFF-6E89-DA75-FF2B-2A6041D0CDCE}"/>
              </a:ext>
            </a:extLst>
          </p:cNvPr>
          <p:cNvCxnSpPr>
            <a:cxnSpLocks/>
            <a:endCxn id="49" idx="1"/>
          </p:cNvCxnSpPr>
          <p:nvPr/>
        </p:nvCxnSpPr>
        <p:spPr>
          <a:xfrm>
            <a:off x="8832087" y="3658139"/>
            <a:ext cx="1736755" cy="299910"/>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Straight Arrow Connector 54">
            <a:extLst>
              <a:ext uri="{FF2B5EF4-FFF2-40B4-BE49-F238E27FC236}">
                <a16:creationId xmlns:a16="http://schemas.microsoft.com/office/drawing/2014/main" id="{DFD82DA2-733C-610E-BF6D-40C396F05380}"/>
              </a:ext>
            </a:extLst>
          </p:cNvPr>
          <p:cNvCxnSpPr>
            <a:cxnSpLocks/>
            <a:endCxn id="52" idx="1"/>
          </p:cNvCxnSpPr>
          <p:nvPr/>
        </p:nvCxnSpPr>
        <p:spPr>
          <a:xfrm>
            <a:off x="8826865" y="3658139"/>
            <a:ext cx="1763977" cy="964378"/>
          </a:xfrm>
          <a:prstGeom prst="straightConnector1">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 name="TextBox 55">
            <a:extLst>
              <a:ext uri="{FF2B5EF4-FFF2-40B4-BE49-F238E27FC236}">
                <a16:creationId xmlns:a16="http://schemas.microsoft.com/office/drawing/2014/main" id="{A5937AA2-4ACF-37C4-0F01-3EC23326F46D}"/>
              </a:ext>
            </a:extLst>
          </p:cNvPr>
          <p:cNvSpPr txBox="1"/>
          <p:nvPr/>
        </p:nvSpPr>
        <p:spPr>
          <a:xfrm>
            <a:off x="9700464" y="3731926"/>
            <a:ext cx="741167" cy="161583"/>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Attests Data</a:t>
            </a:r>
          </a:p>
        </p:txBody>
      </p:sp>
      <p:sp>
        <p:nvSpPr>
          <p:cNvPr id="57" name="TextBox 56">
            <a:extLst>
              <a:ext uri="{FF2B5EF4-FFF2-40B4-BE49-F238E27FC236}">
                <a16:creationId xmlns:a16="http://schemas.microsoft.com/office/drawing/2014/main" id="{2E04B269-45F6-6089-12A3-409E659E5400}"/>
              </a:ext>
            </a:extLst>
          </p:cNvPr>
          <p:cNvSpPr txBox="1"/>
          <p:nvPr/>
        </p:nvSpPr>
        <p:spPr>
          <a:xfrm>
            <a:off x="9726347" y="4257046"/>
            <a:ext cx="741167" cy="323165"/>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Discovers Trusted Data</a:t>
            </a:r>
          </a:p>
        </p:txBody>
      </p:sp>
      <p:sp>
        <p:nvSpPr>
          <p:cNvPr id="58" name="TextBox 57">
            <a:extLst>
              <a:ext uri="{FF2B5EF4-FFF2-40B4-BE49-F238E27FC236}">
                <a16:creationId xmlns:a16="http://schemas.microsoft.com/office/drawing/2014/main" id="{2B3FBCEF-1E4D-8CF5-74B0-50EC5B4BEA57}"/>
              </a:ext>
            </a:extLst>
          </p:cNvPr>
          <p:cNvSpPr txBox="1"/>
          <p:nvPr/>
        </p:nvSpPr>
        <p:spPr>
          <a:xfrm>
            <a:off x="9614773" y="3217947"/>
            <a:ext cx="741167" cy="161583"/>
          </a:xfrm>
          <a:prstGeom prst="rect">
            <a:avLst/>
          </a:prstGeom>
          <a:solidFill>
            <a:schemeClr val="bg1">
              <a:lumMod val="95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Owns Data </a:t>
            </a:r>
          </a:p>
        </p:txBody>
      </p:sp>
      <p:sp>
        <p:nvSpPr>
          <p:cNvPr id="59" name="Left Brace 58">
            <a:extLst>
              <a:ext uri="{FF2B5EF4-FFF2-40B4-BE49-F238E27FC236}">
                <a16:creationId xmlns:a16="http://schemas.microsoft.com/office/drawing/2014/main" id="{2A3156C8-379C-F10B-5A2F-A55C828F140A}"/>
              </a:ext>
            </a:extLst>
          </p:cNvPr>
          <p:cNvSpPr/>
          <p:nvPr/>
        </p:nvSpPr>
        <p:spPr>
          <a:xfrm rot="5400000">
            <a:off x="8146572" y="3766039"/>
            <a:ext cx="353862" cy="1342095"/>
          </a:xfrm>
          <a:prstGeom prst="lef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61B77BA2-6707-A03E-1976-9233710FF7D3}"/>
              </a:ext>
            </a:extLst>
          </p:cNvPr>
          <p:cNvSpPr txBox="1"/>
          <p:nvPr/>
        </p:nvSpPr>
        <p:spPr>
          <a:xfrm>
            <a:off x="7562695" y="5012717"/>
            <a:ext cx="1521615" cy="16158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Data Discovery</a:t>
            </a:r>
          </a:p>
        </p:txBody>
      </p:sp>
      <p:sp>
        <p:nvSpPr>
          <p:cNvPr id="62" name="TextBox 61">
            <a:extLst>
              <a:ext uri="{FF2B5EF4-FFF2-40B4-BE49-F238E27FC236}">
                <a16:creationId xmlns:a16="http://schemas.microsoft.com/office/drawing/2014/main" id="{11E779E0-6A21-EDF9-C2D8-D5BDA019CE9B}"/>
              </a:ext>
            </a:extLst>
          </p:cNvPr>
          <p:cNvSpPr txBox="1"/>
          <p:nvPr/>
        </p:nvSpPr>
        <p:spPr>
          <a:xfrm>
            <a:off x="4038578" y="4629752"/>
            <a:ext cx="1763814" cy="600164"/>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Publish Metadata and Classifications to Purview using Rest APIs</a:t>
            </a:r>
            <a:endParaRPr kumimoji="0" lang="en-US" sz="14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sp>
        <p:nvSpPr>
          <p:cNvPr id="70" name="Rounded Rectangle 14">
            <a:extLst>
              <a:ext uri="{FF2B5EF4-FFF2-40B4-BE49-F238E27FC236}">
                <a16:creationId xmlns:a16="http://schemas.microsoft.com/office/drawing/2014/main" id="{B95E7A51-4B74-F7F5-75B3-4E93A3BEBB66}"/>
              </a:ext>
              <a:ext uri="{C183D7F6-B498-43B3-948B-1728B52AA6E4}">
                <adec:decorative xmlns:adec="http://schemas.microsoft.com/office/drawing/2017/decorative" val="0"/>
              </a:ext>
            </a:extLst>
          </p:cNvPr>
          <p:cNvSpPr/>
          <p:nvPr/>
        </p:nvSpPr>
        <p:spPr>
          <a:xfrm>
            <a:off x="1141681" y="4852827"/>
            <a:ext cx="1682009"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Custom Docker Container for Classifications</a:t>
            </a:r>
          </a:p>
        </p:txBody>
      </p:sp>
      <p:sp>
        <p:nvSpPr>
          <p:cNvPr id="77" name="TextBox 76">
            <a:extLst>
              <a:ext uri="{FF2B5EF4-FFF2-40B4-BE49-F238E27FC236}">
                <a16:creationId xmlns:a16="http://schemas.microsoft.com/office/drawing/2014/main" id="{49126657-BBB4-20D5-93D7-71AC4C8A82E1}"/>
              </a:ext>
            </a:extLst>
          </p:cNvPr>
          <p:cNvSpPr txBox="1"/>
          <p:nvPr/>
        </p:nvSpPr>
        <p:spPr>
          <a:xfrm>
            <a:off x="7666530" y="1499037"/>
            <a:ext cx="1763814" cy="276999"/>
          </a:xfrm>
          <a:prstGeom prst="rect">
            <a:avLst/>
          </a:prstGeom>
          <a:solidFill>
            <a:schemeClr val="bg1"/>
          </a:solid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rPr>
              <a:t>Purview Tenant</a:t>
            </a:r>
            <a:endParaRPr kumimoji="0" lang="en-US" sz="1600" b="0" i="0" u="none" strike="noStrike" kern="1200" cap="none" spc="0" normalizeH="0" baseline="0" noProof="0">
              <a:ln>
                <a:noFill/>
              </a:ln>
              <a:solidFill>
                <a:srgbClr val="0078D4">
                  <a:lumMod val="60000"/>
                  <a:lumOff val="40000"/>
                </a:srgbClr>
              </a:solidFill>
              <a:effectLst/>
              <a:uLnTx/>
              <a:uFillTx/>
              <a:latin typeface="Segoe Sans Text"/>
              <a:ea typeface="Segoe UI" pitchFamily="34" charset="0"/>
              <a:cs typeface="Segoe UI" pitchFamily="34" charset="0"/>
            </a:endParaRPr>
          </a:p>
        </p:txBody>
      </p:sp>
      <p:pic>
        <p:nvPicPr>
          <p:cNvPr id="1026" name="Picture 2">
            <a:extLst>
              <a:ext uri="{FF2B5EF4-FFF2-40B4-BE49-F238E27FC236}">
                <a16:creationId xmlns:a16="http://schemas.microsoft.com/office/drawing/2014/main" id="{D44D1B72-3118-499F-56C7-C60969E406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40830" y="1523721"/>
            <a:ext cx="324917" cy="236303"/>
          </a:xfrm>
          <a:prstGeom prst="rect">
            <a:avLst/>
          </a:prstGeom>
          <a:noFill/>
          <a:extLst>
            <a:ext uri="{909E8E84-426E-40DD-AFC4-6F175D3DCCD1}">
              <a14:hiddenFill xmlns:a14="http://schemas.microsoft.com/office/drawing/2010/main">
                <a:solidFill>
                  <a:srgbClr val="FFFFFF"/>
                </a:solidFill>
              </a14:hiddenFill>
            </a:ext>
          </a:extLst>
        </p:spPr>
      </p:pic>
      <p:pic>
        <p:nvPicPr>
          <p:cNvPr id="84" name="Graphic 83">
            <a:extLst>
              <a:ext uri="{FF2B5EF4-FFF2-40B4-BE49-F238E27FC236}">
                <a16:creationId xmlns:a16="http://schemas.microsoft.com/office/drawing/2014/main" id="{89306E41-B23D-2F22-9E4F-7AB6B404F41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44865" y="3516771"/>
            <a:ext cx="441960" cy="441960"/>
          </a:xfrm>
          <a:prstGeom prst="rect">
            <a:avLst/>
          </a:prstGeom>
        </p:spPr>
      </p:pic>
      <p:pic>
        <p:nvPicPr>
          <p:cNvPr id="86" name="Graphic 85">
            <a:extLst>
              <a:ext uri="{FF2B5EF4-FFF2-40B4-BE49-F238E27FC236}">
                <a16:creationId xmlns:a16="http://schemas.microsoft.com/office/drawing/2014/main" id="{93E3B5DE-6478-F083-E451-79DCCC46B73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80902" y="4506681"/>
            <a:ext cx="464433" cy="464433"/>
          </a:xfrm>
          <a:prstGeom prst="rect">
            <a:avLst/>
          </a:prstGeom>
        </p:spPr>
      </p:pic>
      <p:sp>
        <p:nvSpPr>
          <p:cNvPr id="87" name="TextBox 86">
            <a:extLst>
              <a:ext uri="{FF2B5EF4-FFF2-40B4-BE49-F238E27FC236}">
                <a16:creationId xmlns:a16="http://schemas.microsoft.com/office/drawing/2014/main" id="{506AC47E-EAC1-63C6-A7D3-1E5F7D265CA3}"/>
              </a:ext>
            </a:extLst>
          </p:cNvPr>
          <p:cNvSpPr txBox="1"/>
          <p:nvPr/>
        </p:nvSpPr>
        <p:spPr>
          <a:xfrm>
            <a:off x="7640944" y="5242217"/>
            <a:ext cx="1521615" cy="16158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Data Classification</a:t>
            </a:r>
          </a:p>
        </p:txBody>
      </p:sp>
      <p:sp>
        <p:nvSpPr>
          <p:cNvPr id="88" name="TextBox 87">
            <a:extLst>
              <a:ext uri="{FF2B5EF4-FFF2-40B4-BE49-F238E27FC236}">
                <a16:creationId xmlns:a16="http://schemas.microsoft.com/office/drawing/2014/main" id="{9C5F13F3-B5C4-A326-F01B-20A19F073AD6}"/>
              </a:ext>
            </a:extLst>
          </p:cNvPr>
          <p:cNvSpPr txBox="1"/>
          <p:nvPr/>
        </p:nvSpPr>
        <p:spPr>
          <a:xfrm>
            <a:off x="7562695" y="5481470"/>
            <a:ext cx="1521615" cy="16158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spc="-50">
                <a:ln w="3175">
                  <a:noFill/>
                </a:ln>
                <a:latin typeface="Segoe UI Semibold" panose="020B0502040204020203" pitchFamily="34" charset="0"/>
                <a:cs typeface="Segoe UI" pitchFamily="34" charset="0"/>
              </a:rPr>
              <a:t>Data Quality </a:t>
            </a:r>
            <a:r>
              <a:rPr lang="en-US" sz="1050" b="1" spc="-50" err="1">
                <a:ln w="3175">
                  <a:noFill/>
                </a:ln>
                <a:latin typeface="Segoe UI Semibold" panose="020B0502040204020203" pitchFamily="34" charset="0"/>
                <a:cs typeface="Segoe UI" pitchFamily="34" charset="0"/>
              </a:rPr>
              <a:t>etc</a:t>
            </a:r>
            <a:endParaRPr lang="en-US" sz="1050" b="1" spc="-50">
              <a:ln w="3175">
                <a:noFill/>
              </a:ln>
              <a:latin typeface="Segoe UI Semibold" panose="020B0502040204020203" pitchFamily="34" charset="0"/>
              <a:cs typeface="Segoe UI" pitchFamily="34" charset="0"/>
            </a:endParaRPr>
          </a:p>
        </p:txBody>
      </p:sp>
      <p:pic>
        <p:nvPicPr>
          <p:cNvPr id="4" name="Graphic 3">
            <a:extLst>
              <a:ext uri="{FF2B5EF4-FFF2-40B4-BE49-F238E27FC236}">
                <a16:creationId xmlns:a16="http://schemas.microsoft.com/office/drawing/2014/main" id="{B240CF79-FD5A-FDF0-5656-48676088EF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79470" y="4246609"/>
            <a:ext cx="615015" cy="615015"/>
          </a:xfrm>
          <a:prstGeom prst="rect">
            <a:avLst/>
          </a:prstGeom>
        </p:spPr>
      </p:pic>
      <p:pic>
        <p:nvPicPr>
          <p:cNvPr id="8" name="Graphic 7">
            <a:extLst>
              <a:ext uri="{FF2B5EF4-FFF2-40B4-BE49-F238E27FC236}">
                <a16:creationId xmlns:a16="http://schemas.microsoft.com/office/drawing/2014/main" id="{374DCB9F-106B-5310-4838-7D669A1059F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207586" y="2889390"/>
            <a:ext cx="420207" cy="420207"/>
          </a:xfrm>
          <a:prstGeom prst="rect">
            <a:avLst/>
          </a:prstGeom>
        </p:spPr>
      </p:pic>
      <p:sp>
        <p:nvSpPr>
          <p:cNvPr id="11" name="Rounded Rectangle 14">
            <a:extLst>
              <a:ext uri="{FF2B5EF4-FFF2-40B4-BE49-F238E27FC236}">
                <a16:creationId xmlns:a16="http://schemas.microsoft.com/office/drawing/2014/main" id="{3A67FBFB-62DC-5FAE-8642-B8058617C7FF}"/>
              </a:ext>
              <a:ext uri="{C183D7F6-B498-43B3-948B-1728B52AA6E4}">
                <adec:decorative xmlns:adec="http://schemas.microsoft.com/office/drawing/2017/decorative" val="0"/>
              </a:ext>
            </a:extLst>
          </p:cNvPr>
          <p:cNvSpPr/>
          <p:nvPr/>
        </p:nvSpPr>
        <p:spPr>
          <a:xfrm>
            <a:off x="1948506" y="3366851"/>
            <a:ext cx="1106980" cy="15388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Curated Metadata</a:t>
            </a:r>
          </a:p>
        </p:txBody>
      </p:sp>
      <p:cxnSp>
        <p:nvCxnSpPr>
          <p:cNvPr id="13" name="Straight Arrow Connector 12">
            <a:extLst>
              <a:ext uri="{FF2B5EF4-FFF2-40B4-BE49-F238E27FC236}">
                <a16:creationId xmlns:a16="http://schemas.microsoft.com/office/drawing/2014/main" id="{19BDC1B0-2A34-154A-0512-2087A09B2F16}"/>
              </a:ext>
            </a:extLst>
          </p:cNvPr>
          <p:cNvCxnSpPr>
            <a:stCxn id="4" idx="0"/>
          </p:cNvCxnSpPr>
          <p:nvPr/>
        </p:nvCxnSpPr>
        <p:spPr>
          <a:xfrm flipH="1" flipV="1">
            <a:off x="1460095" y="3604428"/>
            <a:ext cx="526883" cy="642181"/>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886B09B-6B85-2463-3684-EAD0D5A242B4}"/>
              </a:ext>
            </a:extLst>
          </p:cNvPr>
          <p:cNvCxnSpPr/>
          <p:nvPr/>
        </p:nvCxnSpPr>
        <p:spPr>
          <a:xfrm flipV="1">
            <a:off x="2013585" y="3542872"/>
            <a:ext cx="404104" cy="703737"/>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2" name="Rounded Rectangle 14">
            <a:extLst>
              <a:ext uri="{FF2B5EF4-FFF2-40B4-BE49-F238E27FC236}">
                <a16:creationId xmlns:a16="http://schemas.microsoft.com/office/drawing/2014/main" id="{E673D1B4-61FE-59C9-0506-1C9C0BC93E84}"/>
              </a:ext>
              <a:ext uri="{C183D7F6-B498-43B3-948B-1728B52AA6E4}">
                <adec:decorative xmlns:adec="http://schemas.microsoft.com/office/drawing/2017/decorative" val="0"/>
              </a:ext>
            </a:extLst>
          </p:cNvPr>
          <p:cNvSpPr/>
          <p:nvPr/>
        </p:nvSpPr>
        <p:spPr>
          <a:xfrm>
            <a:off x="1032943" y="3802470"/>
            <a:ext cx="1908068" cy="307777"/>
          </a:xfrm>
          <a:prstGeom prst="rect">
            <a:avLst/>
          </a:prstGeom>
          <a:solidFill>
            <a:schemeClr val="bg1"/>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sz="1000">
                <a:solidFill>
                  <a:srgbClr val="0078D4">
                    <a:lumMod val="60000"/>
                    <a:lumOff val="40000"/>
                  </a:srgbClr>
                </a:solidFill>
                <a:latin typeface="Segoe Sans Text Semilight"/>
                <a:cs typeface="Segoe Sans Display Semibold" pitchFamily="2" charset="0"/>
              </a:rPr>
              <a:t>Scan and Classify Sensitive Documents</a:t>
            </a:r>
            <a:endPar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endParaRPr>
          </a:p>
        </p:txBody>
      </p:sp>
      <p:pic>
        <p:nvPicPr>
          <p:cNvPr id="3" name="Graphic 2">
            <a:extLst>
              <a:ext uri="{FF2B5EF4-FFF2-40B4-BE49-F238E27FC236}">
                <a16:creationId xmlns:a16="http://schemas.microsoft.com/office/drawing/2014/main" id="{A7A6E934-0014-BE7A-61EE-4FAE170AC0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75179" y="5212556"/>
            <a:ext cx="615015" cy="615015"/>
          </a:xfrm>
          <a:prstGeom prst="rect">
            <a:avLst/>
          </a:prstGeom>
        </p:spPr>
      </p:pic>
      <p:sp>
        <p:nvSpPr>
          <p:cNvPr id="5" name="Rounded Rectangle 14">
            <a:extLst>
              <a:ext uri="{FF2B5EF4-FFF2-40B4-BE49-F238E27FC236}">
                <a16:creationId xmlns:a16="http://schemas.microsoft.com/office/drawing/2014/main" id="{3D971A73-2C49-EC04-BC1F-85136462737E}"/>
              </a:ext>
              <a:ext uri="{C183D7F6-B498-43B3-948B-1728B52AA6E4}">
                <adec:decorative xmlns:adec="http://schemas.microsoft.com/office/drawing/2017/decorative" val="0"/>
              </a:ext>
            </a:extLst>
          </p:cNvPr>
          <p:cNvSpPr/>
          <p:nvPr/>
        </p:nvSpPr>
        <p:spPr>
          <a:xfrm>
            <a:off x="1402413" y="5807366"/>
            <a:ext cx="1225380" cy="307777"/>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0078D4">
                    <a:lumMod val="60000"/>
                    <a:lumOff val="40000"/>
                  </a:srgbClr>
                </a:solidFill>
                <a:effectLst/>
                <a:uLnTx/>
                <a:uFillTx/>
                <a:latin typeface="Segoe Sans Text Semilight"/>
                <a:ea typeface="+mn-ea"/>
                <a:cs typeface="Segoe Sans Display Semibold" pitchFamily="2" charset="0"/>
              </a:rPr>
              <a:t>Microsoft Cognitive Containers</a:t>
            </a:r>
          </a:p>
        </p:txBody>
      </p:sp>
    </p:spTree>
    <p:extLst>
      <p:ext uri="{BB962C8B-B14F-4D97-AF65-F5344CB8AC3E}">
        <p14:creationId xmlns:p14="http://schemas.microsoft.com/office/powerpoint/2010/main" val="26517889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22BE-66E7-78BF-291F-32BAE2545B4D}"/>
            </a:ext>
          </a:extLst>
        </p:cNvPr>
        <p:cNvGrpSpPr/>
        <p:nvPr/>
      </p:nvGrpSpPr>
      <p:grpSpPr>
        <a:xfrm>
          <a:off x="0" y="0"/>
          <a:ext cx="0" cy="0"/>
          <a:chOff x="0" y="0"/>
          <a:chExt cx="0" cy="0"/>
        </a:xfrm>
      </p:grpSpPr>
      <p:sp>
        <p:nvSpPr>
          <p:cNvPr id="47" name="Title 46">
            <a:extLst>
              <a:ext uri="{FF2B5EF4-FFF2-40B4-BE49-F238E27FC236}">
                <a16:creationId xmlns:a16="http://schemas.microsoft.com/office/drawing/2014/main" id="{FFFC4B4A-F333-AF26-368F-478C3CD3E2A9}"/>
              </a:ext>
            </a:extLst>
          </p:cNvPr>
          <p:cNvSpPr>
            <a:spLocks noGrp="1"/>
          </p:cNvSpPr>
          <p:nvPr>
            <p:ph type="title"/>
          </p:nvPr>
        </p:nvSpPr>
        <p:spPr>
          <a:xfrm>
            <a:off x="588263" y="457200"/>
            <a:ext cx="11018520" cy="553998"/>
          </a:xfrm>
        </p:spPr>
        <p:txBody>
          <a:bodyPr/>
          <a:lstStyle/>
          <a:p>
            <a:r>
              <a:rPr lang="en-US"/>
              <a:t>Fabric </a:t>
            </a:r>
            <a:r>
              <a:rPr lang="en-US" err="1"/>
              <a:t>OneLake</a:t>
            </a:r>
            <a:r>
              <a:rPr lang="en-US"/>
              <a:t> usage scenarios</a:t>
            </a:r>
          </a:p>
        </p:txBody>
      </p:sp>
      <p:sp>
        <p:nvSpPr>
          <p:cNvPr id="4" name="Text Placeholder 3">
            <a:extLst>
              <a:ext uri="{FF2B5EF4-FFF2-40B4-BE49-F238E27FC236}">
                <a16:creationId xmlns:a16="http://schemas.microsoft.com/office/drawing/2014/main" id="{53369A36-45E1-0D41-9256-78371E4E691E}"/>
              </a:ext>
            </a:extLst>
          </p:cNvPr>
          <p:cNvSpPr>
            <a:spLocks noGrp="1"/>
          </p:cNvSpPr>
          <p:nvPr>
            <p:ph type="body" sz="quarter" idx="14"/>
          </p:nvPr>
        </p:nvSpPr>
        <p:spPr>
          <a:xfrm>
            <a:off x="588263" y="1293080"/>
            <a:ext cx="8533423" cy="1452705"/>
          </a:xfrm>
        </p:spPr>
        <p:txBody>
          <a:bodyPr vert="horz" wrap="square" lIns="0" tIns="0" rIns="0" bIns="0" rtlCol="0" anchor="t">
            <a:spAutoFit/>
          </a:bodyPr>
          <a:lstStyle/>
          <a:p>
            <a:r>
              <a:rPr lang="en-US" sz="1600">
                <a:cs typeface="Segoe Sans Display"/>
              </a:rPr>
              <a:t>How would customers be onboarded on to Microsoft Fabric? For </a:t>
            </a:r>
            <a:r>
              <a:rPr lang="en-US" sz="1600" err="1">
                <a:cs typeface="Segoe Sans Display"/>
              </a:rPr>
              <a:t>e.g</a:t>
            </a:r>
            <a:r>
              <a:rPr lang="en-US" sz="1600">
                <a:cs typeface="Segoe Sans Display"/>
              </a:rPr>
              <a:t> would customers bring their Fabric Tenant? Cohesity’s Fabric Tenant? </a:t>
            </a:r>
          </a:p>
          <a:p>
            <a:r>
              <a:rPr lang="en-US" sz="1600"/>
              <a:t>How would customers use the onboard files and metadata?</a:t>
            </a:r>
          </a:p>
          <a:p>
            <a:pPr lvl="1"/>
            <a:r>
              <a:rPr lang="en-US" sz="1200"/>
              <a:t>Would there be post processing, analytics, visualization </a:t>
            </a:r>
            <a:r>
              <a:rPr lang="en-US" sz="1200" err="1"/>
              <a:t>etc</a:t>
            </a:r>
            <a:r>
              <a:rPr lang="en-US" sz="1200"/>
              <a:t>?</a:t>
            </a:r>
            <a:endParaRPr lang="en-US" sz="1200">
              <a:cs typeface="Segoe Sans Display"/>
            </a:endParaRPr>
          </a:p>
          <a:p>
            <a:pPr lvl="1"/>
            <a:r>
              <a:rPr lang="en-US" sz="1200">
                <a:cs typeface="Segoe Sans Display"/>
              </a:rPr>
              <a:t>What other use cases are you thinking about for the data in </a:t>
            </a:r>
            <a:r>
              <a:rPr lang="en-US" sz="1200" err="1">
                <a:cs typeface="Segoe Sans Display"/>
              </a:rPr>
              <a:t>Onelake</a:t>
            </a:r>
            <a:r>
              <a:rPr lang="en-US" sz="1200">
                <a:cs typeface="Segoe Sans Display"/>
              </a:rPr>
              <a:t>?</a:t>
            </a:r>
          </a:p>
          <a:p>
            <a:pPr lvl="1"/>
            <a:endParaRPr lang="en-US" sz="1200">
              <a:cs typeface="Segoe Sans Display"/>
            </a:endParaRPr>
          </a:p>
        </p:txBody>
      </p:sp>
    </p:spTree>
    <p:extLst>
      <p:ext uri="{BB962C8B-B14F-4D97-AF65-F5344CB8AC3E}">
        <p14:creationId xmlns:p14="http://schemas.microsoft.com/office/powerpoint/2010/main" val="1982375795"/>
      </p:ext>
    </p:extLst>
  </p:cSld>
  <p:clrMapOvr>
    <a:masterClrMapping/>
  </p:clrMapOvr>
  <p:transition>
    <p:fade/>
  </p:transition>
</p:sld>
</file>

<file path=ppt/theme/theme1.xml><?xml version="1.0" encoding="utf-8"?>
<a:theme xmlns:a="http://schemas.openxmlformats.org/drawingml/2006/main" name="1_Azure 2025 Template - LIGHT MOD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zure PowerPoint Template - V4" id="{3B5CF8C7-8945-A342-BD6C-1080D81862B6}" vid="{8AAC9D8C-28CC-DC4B-8D5D-EC6191E4BD50}"/>
    </a:ext>
  </a:extLst>
</a:theme>
</file>

<file path=ppt/theme/theme2.xml><?xml version="1.0" encoding="utf-8"?>
<a:theme xmlns:a="http://schemas.openxmlformats.org/drawingml/2006/main" name="MSFT Cloud_Industry Slide Template-16x9">
  <a:themeElements>
    <a:clrScheme name="MSFT Cloud">
      <a:dk1>
        <a:srgbClr val="091F2C"/>
      </a:dk1>
      <a:lt1>
        <a:srgbClr val="FFFFFF"/>
      </a:lt1>
      <a:dk2>
        <a:srgbClr val="000000"/>
      </a:dk2>
      <a:lt2>
        <a:srgbClr val="FFF8F5"/>
      </a:lt2>
      <a:accent1>
        <a:srgbClr val="702573"/>
      </a:accent1>
      <a:accent2>
        <a:srgbClr val="C03BC4"/>
      </a:accent2>
      <a:accent3>
        <a:srgbClr val="0078D4"/>
      </a:accent3>
      <a:accent4>
        <a:srgbClr val="8DC8E8"/>
      </a:accent4>
      <a:accent5>
        <a:srgbClr val="225B62"/>
      </a:accent5>
      <a:accent6>
        <a:srgbClr val="D4EC8E"/>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Cloud_Industry Slide Template-16x9_v06.potx" id="{22F967BE-1BE3-4E33-9E43-34A6A01C1D2B}" vid="{96DD2E20-957E-4F0C-81DD-10783C0407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Slides>
  <Notes>5</Notes>
  <HiddenSlides>0</HiddenSlide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1_Azure 2025 Template - LIGHT MODE</vt:lpstr>
      <vt:lpstr>MSFT Cloud_Industry Slide Template-16x9</vt:lpstr>
      <vt:lpstr>Modernizing Cohesity Customer Analytics on Microsoft Fabric</vt:lpstr>
      <vt:lpstr>Requirements &amp; Assumptions</vt:lpstr>
      <vt:lpstr>Loading On-Prem NAS on Fabric OneLake</vt:lpstr>
      <vt:lpstr>ETL To Fabric OneLake</vt:lpstr>
      <vt:lpstr>Loading On-Prem NAS on Fabric OneLake</vt:lpstr>
      <vt:lpstr>One Lake Security and Permission Model</vt:lpstr>
      <vt:lpstr>PowerPoint Presentation</vt:lpstr>
      <vt:lpstr>Data Governance with Purview</vt:lpstr>
      <vt:lpstr>Fabric OneLake usage scenarios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Anil Dwarakanath</dc:creator>
  <cp:revision>1</cp:revision>
  <dcterms:created xsi:type="dcterms:W3CDTF">2025-12-07T18:04:22Z</dcterms:created>
  <dcterms:modified xsi:type="dcterms:W3CDTF">2026-01-16T22:43:59Z</dcterms:modified>
</cp:coreProperties>
</file>